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Carlos De La Torre, Architect of Sypnose. In the next twelve minutes I'm going to show you a product that is not a chatbot, not an autocomplete, not another wrapper. Sypnose Mithos is an operating layer for AI workers. One command in your terminal — and an entire engineering organization gets to work. I will not promise anything I can't put a number against. That is our Iron Rule, and you'll see it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is not creativity. The bottleneck is hands. A typical product team takes three to twelve weeks to ship one mid-size feature: scoping, branching, coding, reviewing, testing, deploying, monitoring. Each step waits on a human. Each handoff loses context. Each retrospective concludes the same thing — we need more engineers. You can't hire your way out of this anymore. You need an army that runs in parallel and never forgets.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Sypnose Mithos is that army. One command — sypnose build feature.md — fans out into up to 300 parallel workers: an architect, four engineers, a reviewer, a researcher, a memory keeper. They communicate at 741 milliseconds agent-to-agent latency. They are model-agnostic — Claude, GPT, Gemini, Mistral — routed across 47 models. They remember everything for four years. And they only finish a task when tests pass. Not when it looks done. When it is proven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five-step pipeline. The Gateway receives your natural-language command. The Architect breaks it into a dependency graph. Up to 300 Workers — across 47 models — execute in parallel. The Reviewer scores every PR against the spec and the tests. The Memory layer indexes the result so the next command starts smarter than this one. 93% of PRs pass review on the first attempt. The other 7% are routed back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Iron Rule. No proof, no done. Every Sypnose worker must produce a passing test before it can mark a task complete. Vibes do not ship. Promises do not ship. Green tests ship. This is enforced in the orchestrator, not in a code review process — it is impossible to bypass. This is also why we will not tell you something works on this stage unless we have the metric to back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metrics, live, as of this morning. 300 workers in the maximum parallel pool. 47 models routed dynamically by cost and capability. 741 milliseconds end-to-end agent-to-agent latency. 93% first-pass review rate. 95% of our compute is free — we exploit free tiers across 11 providers before touching paid ones. Four-year memory horizon. 1,708 knowledge entries indexed. 43 active projects. These numbers are checked into Grafana. We will show them on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products in production, not in pitch decks. GestoriaRD: 314 paying clients managing tax filings in the Dominican Republic. FacturaIA, an invoice OCR service. Three more under HUYGHU &amp; Asociados. Together they run on a single VPS. Every line of business logic was written by Sypnose workers — and every line was reviewed by a Sypnose reviewer before merge. We use what we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case one. HUYGHU &amp; Asociados is a Dominican tax firm. We built their entire brand identity — logo system, favicons, signatures, business cards, a 22-page brand book, a 15-slide deck, email templates, social templates — in six hours. Same standard you're seeing right now. One engineer at the terminal. Six hours later: a finished bundle, MIT licensed,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case two. Stratos is a trading dashboard built on Sypnose in 27 hours of wall-clock. Real-time risk panel, six order types, paper-trading sandbox, full E2E test suite, deployed behind Cloudflare Access. A traditional team estimate for the same scope was eight weeks. Not because traditional teams are slow — because Sypnose runs 300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underneath. Claude Code as the primary worker shell — 512,000 lines of which we audited line by line. Gemini through Google Vertex for cheap parallel runs. MCP servers for tool access. Cloudflare Access for zero-trust auth. Postgres + pgvector for memory. Redis for the task queue. It is boring. It is unsexy. It is the part you want to be boring.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Free for builders bringing their own keys. Business for teams of five seats at $2,400 a month — managed infrastructure, hosted memory, all 47 models routed for you. Enterprise for teams that want it in their VPC with a SOC 2 paper trail. No hidden seats, no per-token surcharges, no consumption alarms — what you sign is what you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Free tier. Zero dollars. You bring API keys for Claude, GPT, or Gemini. You install with one curl command. You get 300 workers, the full memory layer, every CLI command in the paid tier. The only thing you don't get is our compute pool and our SLA. Use it as long as you want. It is MIT licensed. It is on github.com/sypnose-cloud.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tier. $2,400 a month, five seats, managed. You get our compute pool, our 95% free-compute routing, our hosted memory, our Grafana dashboards, our overnight build queue, and a Slack channel with the team. We have run nine agents overnight closing 312 tasks with zero errors. That is the ceiling we aim to give every Business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Enterprise tier. Annual contract. We deploy Sypnose in your VPC. SOC 2 paper trail. SSO, audit logging, IP allowlisting, your choice of model providers, your retention policy on the memory layer. We don't quote a list price — we quote per-deployment. The customers on this tier are not buying software, they are buying an extra team that runs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One command. Entire AI organization. If you want to see your own backlog run through Sypnose, book a six-hour POC — free. We pick one feature you've been postponing and we ship it on Sypnose end-to-end. Tests included. You keep the PR. hello@sypnose.cloud.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3929"/>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D3929"/>
          </a:solidFill>
          <a:ln/>
        </p:spPr>
      </p:sp>
      <p:sp>
        <p:nvSpPr>
          <p:cNvPr id="3" name="Shape 1"/>
          <p:cNvSpPr/>
          <p:nvPr/>
        </p:nvSpPr>
        <p:spPr>
          <a:xfrm>
            <a:off x="0" y="0"/>
            <a:ext cx="18288000" cy="10287000"/>
          </a:xfrm>
          <a:prstGeom prst="rect">
            <a:avLst/>
          </a:prstGeom>
          <a:solidFill>
            <a:srgbClr val="EEECE2">
              <a:alpha val="3000"/>
            </a:srgbClr>
          </a:solidFill>
          <a:ln/>
        </p:spPr>
      </p:sp>
      <p:sp>
        <p:nvSpPr>
          <p:cNvPr id="4" name="Text 2"/>
          <p:cNvSpPr/>
          <p:nvPr/>
        </p:nvSpPr>
        <p:spPr>
          <a:xfrm>
            <a:off x="762000" y="457200"/>
            <a:ext cx="4899121"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SYPNOSE · MITHOS — PITCH DECK 2026</a:t>
            </a:r>
            <a:endParaRPr lang="en-US" sz="1350" dirty="0"/>
          </a:p>
        </p:txBody>
      </p:sp>
      <p:sp>
        <p:nvSpPr>
          <p:cNvPr id="5" name="Text 3"/>
          <p:cNvSpPr/>
          <p:nvPr/>
        </p:nvSpPr>
        <p:spPr>
          <a:xfrm>
            <a:off x="14583847" y="457200"/>
            <a:ext cx="303041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01 / 15 · CONFIDENTIAL</a:t>
            </a:r>
            <a:endParaRPr lang="en-US" sz="1350" dirty="0"/>
          </a:p>
        </p:txBody>
      </p:sp>
      <p:sp>
        <p:nvSpPr>
          <p:cNvPr id="6" name="Text 4"/>
          <p:cNvSpPr/>
          <p:nvPr/>
        </p:nvSpPr>
        <p:spPr>
          <a:xfrm>
            <a:off x="1143000" y="2667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DA7756"/>
                </a:solidFill>
                <a:latin typeface="JetBrains Mono" pitchFamily="34" charset="0"/>
                <a:ea typeface="JetBrains Mono" pitchFamily="34" charset="-122"/>
                <a:cs typeface="JetBrains Mono" pitchFamily="34" charset="-120"/>
              </a:rPr>
              <a:t>▌ ONE COMMAND. ENTIRE AI ORGANIZATION.</a:t>
            </a:r>
            <a:endParaRPr lang="en-US" sz="1500" dirty="0"/>
          </a:p>
        </p:txBody>
      </p:sp>
      <p:sp>
        <p:nvSpPr>
          <p:cNvPr id="7" name="Text 5"/>
          <p:cNvSpPr/>
          <p:nvPr/>
        </p:nvSpPr>
        <p:spPr>
          <a:xfrm>
            <a:off x="1143000" y="3383280"/>
            <a:ext cx="16482060" cy="4998720"/>
          </a:xfrm>
          <a:prstGeom prst="rect">
            <a:avLst/>
          </a:prstGeom>
          <a:noFill/>
          <a:ln/>
        </p:spPr>
        <p:txBody>
          <a:bodyPr wrap="square" lIns="25400" tIns="25400" rIns="25400" bIns="25400" rtlCol="0" anchor="t">
            <a:normAutofit/>
          </a:bodyPr>
          <a:lstStyle/>
          <a:p>
            <a:pPr algn="l" indent="0" marL="0">
              <a:lnSpc>
                <a:spcPct val="86000"/>
              </a:lnSpc>
              <a:buNone/>
            </a:pPr>
            <a:r>
              <a:rPr lang="en-US" sz="22500" b="1" spc="-1237" kern="0" dirty="0">
                <a:solidFill>
                  <a:srgbClr val="EEECE2"/>
                </a:solidFill>
                <a:latin typeface="Poppins" pitchFamily="34" charset="0"/>
                <a:ea typeface="Poppins" pitchFamily="34" charset="-122"/>
                <a:cs typeface="Poppins" pitchFamily="34" charset="-120"/>
              </a:rPr>
              <a:t>sypnose </a:t>
            </a:r>
            <a:pPr algn="l" indent="0" marL="0">
              <a:lnSpc>
                <a:spcPct val="86000"/>
              </a:lnSpc>
              <a:buNone/>
            </a:pPr>
            <a:r>
              <a:rPr lang="en-US" sz="22500" i="1" spc="-1237" kern="0" dirty="0">
                <a:solidFill>
                  <a:srgbClr val="DA7756"/>
                </a:solidFill>
                <a:latin typeface="Georgia" pitchFamily="34" charset="0"/>
                <a:ea typeface="Georgia" pitchFamily="34" charset="-122"/>
                <a:cs typeface="Georgia" pitchFamily="34" charset="-120"/>
              </a:rPr>
              <a:t>mithos.</a:t>
            </a:r>
            <a:endParaRPr lang="en-US" sz="22500" dirty="0"/>
          </a:p>
        </p:txBody>
      </p:sp>
      <p:sp>
        <p:nvSpPr>
          <p:cNvPr id="8" name="Text 6"/>
          <p:cNvSpPr/>
          <p:nvPr/>
        </p:nvSpPr>
        <p:spPr>
          <a:xfrm>
            <a:off x="1143000" y="8343900"/>
            <a:ext cx="5418232" cy="266700"/>
          </a:xfrm>
          <a:prstGeom prst="rect">
            <a:avLst/>
          </a:prstGeom>
          <a:noFill/>
          <a:ln/>
        </p:spPr>
        <p:txBody>
          <a:bodyPr wrap="square" lIns="25400" tIns="25400" rIns="25400" bIns="25400" rtlCol="0" anchor="t">
            <a:normAutofit/>
          </a:bodyPr>
          <a:lstStyle/>
          <a:p>
            <a:pPr algn="l" indent="0" marL="0">
              <a:buNone/>
            </a:pPr>
            <a:r>
              <a:rPr lang="en-US" sz="1350" spc="297" kern="0" dirty="0">
                <a:solidFill>
                  <a:srgbClr val="DA7756"/>
                </a:solidFill>
                <a:latin typeface="JetBrains Mono" pitchFamily="34" charset="0"/>
                <a:ea typeface="JetBrains Mono" pitchFamily="34" charset="-122"/>
                <a:cs typeface="JetBrains Mono" pitchFamily="34" charset="-120"/>
              </a:rPr>
              <a:t>▌ ARCHITECT</a:t>
            </a:r>
            <a:endParaRPr lang="en-US" sz="1350" dirty="0"/>
          </a:p>
        </p:txBody>
      </p:sp>
      <p:sp>
        <p:nvSpPr>
          <p:cNvPr id="9" name="Text 7"/>
          <p:cNvSpPr/>
          <p:nvPr/>
        </p:nvSpPr>
        <p:spPr>
          <a:xfrm>
            <a:off x="1143000" y="8648700"/>
            <a:ext cx="5418232" cy="556260"/>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EEECE2"/>
                </a:solidFill>
                <a:latin typeface="Poppins" pitchFamily="34" charset="0"/>
                <a:ea typeface="Poppins" pitchFamily="34" charset="-122"/>
                <a:cs typeface="Poppins" pitchFamily="34" charset="-120"/>
              </a:rPr>
              <a:t>Carlos De La Torre</a:t>
            </a:r>
            <a:endParaRPr lang="en-US" sz="2700" dirty="0"/>
          </a:p>
        </p:txBody>
      </p:sp>
      <p:sp>
        <p:nvSpPr>
          <p:cNvPr id="10" name="Text 8"/>
          <p:cNvSpPr/>
          <p:nvPr/>
        </p:nvSpPr>
        <p:spPr>
          <a:xfrm>
            <a:off x="1143000" y="9204960"/>
            <a:ext cx="541823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EEECE2">
                    <a:alpha val="55000"/>
                  </a:srgbClr>
                </a:solidFill>
                <a:latin typeface="DM Sans" pitchFamily="34" charset="0"/>
                <a:ea typeface="DM Sans" pitchFamily="34" charset="-122"/>
                <a:cs typeface="DM Sans" pitchFamily="34" charset="-120"/>
              </a:rPr>
              <a:t>Puerto Plata, Dominican Republic · Live since Jan 2026</a:t>
            </a:r>
            <a:endParaRPr lang="en-US" sz="1650" dirty="0"/>
          </a:p>
        </p:txBody>
      </p:sp>
      <p:sp>
        <p:nvSpPr>
          <p:cNvPr id="11" name="Text 9"/>
          <p:cNvSpPr/>
          <p:nvPr/>
        </p:nvSpPr>
        <p:spPr>
          <a:xfrm>
            <a:off x="14274375" y="8572500"/>
            <a:ext cx="2870626" cy="266700"/>
          </a:xfrm>
          <a:prstGeom prst="rect">
            <a:avLst/>
          </a:prstGeom>
          <a:noFill/>
          <a:ln/>
        </p:spPr>
        <p:txBody>
          <a:bodyPr wrap="square" lIns="25400" tIns="25400" rIns="25400" bIns="25400" rtlCol="0" anchor="t">
            <a:normAutofit/>
          </a:bodyPr>
          <a:lstStyle/>
          <a:p>
            <a:pPr algn="r" indent="0" marL="0">
              <a:buNone/>
            </a:pPr>
            <a:r>
              <a:rPr lang="en-US" sz="1350" spc="297" kern="0" dirty="0">
                <a:solidFill>
                  <a:srgbClr val="DA7756"/>
                </a:solidFill>
                <a:latin typeface="JetBrains Mono" pitchFamily="34" charset="0"/>
                <a:ea typeface="JetBrains Mono" pitchFamily="34" charset="-122"/>
                <a:cs typeface="JetBrains Mono" pitchFamily="34" charset="-120"/>
              </a:rPr>
              <a:t>▌ CONTACT</a:t>
            </a:r>
            <a:endParaRPr lang="en-US" sz="1350" dirty="0"/>
          </a:p>
        </p:txBody>
      </p:sp>
      <p:sp>
        <p:nvSpPr>
          <p:cNvPr id="12" name="Text 10"/>
          <p:cNvSpPr/>
          <p:nvPr/>
        </p:nvSpPr>
        <p:spPr>
          <a:xfrm>
            <a:off x="14274375" y="8877300"/>
            <a:ext cx="2870626" cy="342900"/>
          </a:xfrm>
          <a:prstGeom prst="rect">
            <a:avLst/>
          </a:prstGeom>
          <a:noFill/>
          <a:ln/>
        </p:spPr>
        <p:txBody>
          <a:bodyPr wrap="square" lIns="25400" tIns="25400" rIns="25400" bIns="25400" rtlCol="0" anchor="t">
            <a:normAutofit/>
          </a:bodyPr>
          <a:lstStyle/>
          <a:p>
            <a:pPr algn="r" indent="0" marL="0">
              <a:buNone/>
            </a:pPr>
            <a:r>
              <a:rPr lang="en-US" sz="1800" spc="75" kern="0" dirty="0">
                <a:solidFill>
                  <a:srgbClr val="EEECE2"/>
                </a:solidFill>
                <a:latin typeface="JetBrains Mono" pitchFamily="34" charset="0"/>
                <a:ea typeface="JetBrains Mono" pitchFamily="34" charset="-122"/>
                <a:cs typeface="JetBrains Mono" pitchFamily="34" charset="-120"/>
              </a:rPr>
              <a:t>hello@sypnose.cloud</a:t>
            </a:r>
            <a:endParaRPr lang="en-US" sz="1800" dirty="0"/>
          </a:p>
        </p:txBody>
      </p:sp>
      <p:sp>
        <p:nvSpPr>
          <p:cNvPr id="13" name="Text 11"/>
          <p:cNvSpPr/>
          <p:nvPr/>
        </p:nvSpPr>
        <p:spPr>
          <a:xfrm>
            <a:off x="14274375" y="9220200"/>
            <a:ext cx="2870626" cy="297180"/>
          </a:xfrm>
          <a:prstGeom prst="rect">
            <a:avLst/>
          </a:prstGeom>
          <a:noFill/>
          <a:ln/>
        </p:spPr>
        <p:txBody>
          <a:bodyPr wrap="square" lIns="25400" tIns="25400" rIns="25400" bIns="25400" rtlCol="0" anchor="t">
            <a:normAutofit/>
          </a:bodyPr>
          <a:lstStyle/>
          <a:p>
            <a:pPr algn="r" indent="0" marL="0">
              <a:buNone/>
            </a:pPr>
            <a:r>
              <a:rPr lang="en-US" sz="1500" dirty="0">
                <a:solidFill>
                  <a:srgbClr val="EEECE2">
                    <a:alpha val="55000"/>
                  </a:srgbClr>
                </a:solidFill>
                <a:latin typeface="JetBrains Mono" pitchFamily="34" charset="0"/>
                <a:ea typeface="JetBrains Mono" pitchFamily="34" charset="-122"/>
                <a:cs typeface="JetBrains Mono" pitchFamily="34" charset="-120"/>
              </a:rPr>
              <a:t>SYPNOSE.CLOUD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717554" y="502920"/>
            <a:ext cx="2892700"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02 / 15 · THE PROBLEM</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02 — THE BOTTLENECK</a:t>
            </a:r>
            <a:endParaRPr lang="en-US" sz="1500" dirty="0"/>
          </a:p>
        </p:txBody>
      </p:sp>
      <p:sp>
        <p:nvSpPr>
          <p:cNvPr id="6" name="Text 3"/>
          <p:cNvSpPr/>
          <p:nvPr/>
        </p:nvSpPr>
        <p:spPr>
          <a:xfrm>
            <a:off x="1143000" y="2049780"/>
            <a:ext cx="16482060"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Engineering is a queue.</a:t>
            </a:r>
            <a:endParaRPr lang="en-US" sz="9000" dirty="0"/>
          </a:p>
        </p:txBody>
      </p:sp>
      <p:sp>
        <p:nvSpPr>
          <p:cNvPr id="7" name="Text 4"/>
          <p:cNvSpPr/>
          <p:nvPr/>
        </p:nvSpPr>
        <p:spPr>
          <a:xfrm>
            <a:off x="1143000" y="4511040"/>
            <a:ext cx="14716125" cy="1094184"/>
          </a:xfrm>
          <a:prstGeom prst="rect">
            <a:avLst/>
          </a:prstGeom>
          <a:noFill/>
          <a:ln/>
        </p:spPr>
        <p:txBody>
          <a:bodyPr wrap="square" lIns="25400" tIns="25400" rIns="25400" bIns="25400" rtlCol="0" anchor="t">
            <a:normAutofit/>
          </a:bodyPr>
          <a:lstStyle/>
          <a:p>
            <a:pPr algn="l" indent="0" marL="0">
              <a:lnSpc>
                <a:spcPct val="132000"/>
              </a:lnSpc>
              <a:buNone/>
            </a:pPr>
            <a:r>
              <a:rPr lang="en-US" sz="3150" i="1" dirty="0">
                <a:solidFill>
                  <a:srgbClr val="3D3929">
                    <a:alpha val="70000"/>
                  </a:srgbClr>
                </a:solidFill>
                <a:latin typeface="Lora" pitchFamily="34" charset="0"/>
                <a:ea typeface="Lora" pitchFamily="34" charset="-122"/>
                <a:cs typeface="Lora" pitchFamily="34" charset="-120"/>
              </a:rPr>
              <a:t>A mid-size feature takes 8–12 weeks. Not because the code is hard — because every step waits on a human.</a:t>
            </a:r>
            <a:endParaRPr lang="en-US" sz="3150" dirty="0"/>
          </a:p>
        </p:txBody>
      </p:sp>
      <p:sp>
        <p:nvSpPr>
          <p:cNvPr id="8" name="Shape 5"/>
          <p:cNvSpPr/>
          <p:nvPr/>
        </p:nvSpPr>
        <p:spPr>
          <a:xfrm>
            <a:off x="1143000" y="7113985"/>
            <a:ext cx="16002000" cy="9525"/>
          </a:xfrm>
          <a:prstGeom prst="rect">
            <a:avLst/>
          </a:prstGeom>
          <a:solidFill>
            <a:srgbClr val="3D3929">
              <a:alpha val="14000"/>
            </a:srgbClr>
          </a:solidFill>
          <a:ln/>
        </p:spPr>
      </p:sp>
      <p:sp>
        <p:nvSpPr>
          <p:cNvPr id="9" name="Text 6"/>
          <p:cNvSpPr/>
          <p:nvPr/>
        </p:nvSpPr>
        <p:spPr>
          <a:xfrm>
            <a:off x="1143000" y="6310075"/>
            <a:ext cx="3335655" cy="556260"/>
          </a:xfrm>
          <a:prstGeom prst="rect">
            <a:avLst/>
          </a:prstGeom>
          <a:noFill/>
          <a:ln/>
        </p:spPr>
        <p:txBody>
          <a:bodyPr wrap="square" lIns="25400" tIns="25400" rIns="25400" bIns="25400" rtlCol="0" anchor="t">
            <a:normAutofit/>
          </a:bodyPr>
          <a:lstStyle/>
          <a:p>
            <a:pPr algn="l" indent="0" marL="0">
              <a:buNone/>
            </a:pPr>
            <a:r>
              <a:rPr lang="en-US" sz="2700" b="1" spc="-27" kern="0" dirty="0">
                <a:solidFill>
                  <a:srgbClr val="3D3929"/>
                </a:solidFill>
                <a:latin typeface="Poppins" pitchFamily="34" charset="0"/>
                <a:ea typeface="Poppins" pitchFamily="34" charset="-122"/>
                <a:cs typeface="Poppins" pitchFamily="34" charset="-120"/>
              </a:rPr>
              <a:t>01 · Scoping</a:t>
            </a:r>
            <a:endParaRPr lang="en-US" sz="2700" dirty="0"/>
          </a:p>
        </p:txBody>
      </p:sp>
      <p:sp>
        <p:nvSpPr>
          <p:cNvPr id="10" name="Shape 7"/>
          <p:cNvSpPr/>
          <p:nvPr/>
        </p:nvSpPr>
        <p:spPr>
          <a:xfrm>
            <a:off x="4686300" y="6502479"/>
            <a:ext cx="10439400" cy="133350"/>
          </a:xfrm>
          <a:prstGeom prst="roundRect">
            <a:avLst>
              <a:gd name="adj" fmla="val 21429"/>
            </a:avLst>
          </a:prstGeom>
          <a:solidFill>
            <a:srgbClr val="DCD7C4"/>
          </a:solidFill>
          <a:ln/>
        </p:spPr>
      </p:sp>
      <p:sp>
        <p:nvSpPr>
          <p:cNvPr id="11" name="Shape 8"/>
          <p:cNvSpPr/>
          <p:nvPr/>
        </p:nvSpPr>
        <p:spPr>
          <a:xfrm>
            <a:off x="4686300" y="6502479"/>
            <a:ext cx="835104" cy="133350"/>
          </a:xfrm>
          <a:prstGeom prst="roundRect">
            <a:avLst>
              <a:gd name="adj" fmla="val 21429"/>
            </a:avLst>
          </a:prstGeom>
          <a:solidFill>
            <a:srgbClr val="3D3929"/>
          </a:solidFill>
          <a:ln/>
        </p:spPr>
      </p:sp>
      <p:sp>
        <p:nvSpPr>
          <p:cNvPr id="12" name="Text 9"/>
          <p:cNvSpPr/>
          <p:nvPr/>
        </p:nvSpPr>
        <p:spPr>
          <a:xfrm>
            <a:off x="15354300" y="6431995"/>
            <a:ext cx="1790700" cy="312420"/>
          </a:xfrm>
          <a:prstGeom prst="rect">
            <a:avLst/>
          </a:prstGeom>
          <a:noFill/>
          <a:ln/>
        </p:spPr>
        <p:txBody>
          <a:bodyPr wrap="square" lIns="25400" tIns="25400" rIns="25400" bIns="25400" rtlCol="0" anchor="t">
            <a:normAutofit/>
          </a:bodyPr>
          <a:lstStyle/>
          <a:p>
            <a:pPr algn="r" indent="0" marL="0">
              <a:buNone/>
            </a:pPr>
            <a:r>
              <a:rPr lang="en-US" sz="1650" b="1" dirty="0">
                <a:solidFill>
                  <a:srgbClr val="B85F3F"/>
                </a:solidFill>
                <a:latin typeface="JetBrains Mono" pitchFamily="34" charset="0"/>
                <a:ea typeface="JetBrains Mono" pitchFamily="34" charset="-122"/>
                <a:cs typeface="JetBrains Mono" pitchFamily="34" charset="-120"/>
              </a:rPr>
              <a:t>~ 3 days</a:t>
            </a:r>
            <a:endParaRPr lang="en-US" sz="1650" dirty="0"/>
          </a:p>
        </p:txBody>
      </p:sp>
      <p:sp>
        <p:nvSpPr>
          <p:cNvPr id="13" name="Shape 10"/>
          <p:cNvSpPr/>
          <p:nvPr/>
        </p:nvSpPr>
        <p:spPr>
          <a:xfrm>
            <a:off x="1143000" y="8211264"/>
            <a:ext cx="16002000" cy="9525"/>
          </a:xfrm>
          <a:prstGeom prst="rect">
            <a:avLst/>
          </a:prstGeom>
          <a:solidFill>
            <a:srgbClr val="3D3929">
              <a:alpha val="14000"/>
            </a:srgbClr>
          </a:solidFill>
          <a:ln/>
        </p:spPr>
      </p:sp>
      <p:sp>
        <p:nvSpPr>
          <p:cNvPr id="14" name="Text 11"/>
          <p:cNvSpPr/>
          <p:nvPr/>
        </p:nvSpPr>
        <p:spPr>
          <a:xfrm>
            <a:off x="1143000" y="7407354"/>
            <a:ext cx="3335655" cy="556260"/>
          </a:xfrm>
          <a:prstGeom prst="rect">
            <a:avLst/>
          </a:prstGeom>
          <a:noFill/>
          <a:ln/>
        </p:spPr>
        <p:txBody>
          <a:bodyPr wrap="square" lIns="25400" tIns="25400" rIns="25400" bIns="25400" rtlCol="0" anchor="t">
            <a:normAutofit/>
          </a:bodyPr>
          <a:lstStyle/>
          <a:p>
            <a:pPr algn="l" indent="0" marL="0">
              <a:buNone/>
            </a:pPr>
            <a:r>
              <a:rPr lang="en-US" sz="2700" b="1" spc="-27" kern="0" dirty="0">
                <a:solidFill>
                  <a:srgbClr val="3D3929"/>
                </a:solidFill>
                <a:latin typeface="Poppins" pitchFamily="34" charset="0"/>
                <a:ea typeface="Poppins" pitchFamily="34" charset="-122"/>
                <a:cs typeface="Poppins" pitchFamily="34" charset="-120"/>
              </a:rPr>
              <a:t>02 · Design review</a:t>
            </a:r>
            <a:endParaRPr lang="en-US" sz="2700" dirty="0"/>
          </a:p>
        </p:txBody>
      </p:sp>
      <p:sp>
        <p:nvSpPr>
          <p:cNvPr id="15" name="Shape 12"/>
          <p:cNvSpPr/>
          <p:nvPr/>
        </p:nvSpPr>
        <p:spPr>
          <a:xfrm>
            <a:off x="4686300" y="7599759"/>
            <a:ext cx="10439400" cy="133350"/>
          </a:xfrm>
          <a:prstGeom prst="roundRect">
            <a:avLst>
              <a:gd name="adj" fmla="val 21429"/>
            </a:avLst>
          </a:prstGeom>
          <a:solidFill>
            <a:srgbClr val="DCD7C4"/>
          </a:solidFill>
          <a:ln/>
        </p:spPr>
      </p:sp>
      <p:sp>
        <p:nvSpPr>
          <p:cNvPr id="16" name="Shape 13"/>
          <p:cNvSpPr/>
          <p:nvPr/>
        </p:nvSpPr>
        <p:spPr>
          <a:xfrm>
            <a:off x="4686300" y="7599759"/>
            <a:ext cx="1461492" cy="133350"/>
          </a:xfrm>
          <a:prstGeom prst="roundRect">
            <a:avLst>
              <a:gd name="adj" fmla="val 21429"/>
            </a:avLst>
          </a:prstGeom>
          <a:solidFill>
            <a:srgbClr val="3D3929"/>
          </a:solidFill>
          <a:ln/>
        </p:spPr>
      </p:sp>
      <p:sp>
        <p:nvSpPr>
          <p:cNvPr id="17" name="Text 14"/>
          <p:cNvSpPr/>
          <p:nvPr/>
        </p:nvSpPr>
        <p:spPr>
          <a:xfrm>
            <a:off x="15354300" y="7529275"/>
            <a:ext cx="1790700" cy="312420"/>
          </a:xfrm>
          <a:prstGeom prst="rect">
            <a:avLst/>
          </a:prstGeom>
          <a:noFill/>
          <a:ln/>
        </p:spPr>
        <p:txBody>
          <a:bodyPr wrap="square" lIns="25400" tIns="25400" rIns="25400" bIns="25400" rtlCol="0" anchor="t">
            <a:normAutofit/>
          </a:bodyPr>
          <a:lstStyle/>
          <a:p>
            <a:pPr algn="r" indent="0" marL="0">
              <a:buNone/>
            </a:pPr>
            <a:r>
              <a:rPr lang="en-US" sz="1650" b="1" dirty="0">
                <a:solidFill>
                  <a:srgbClr val="B85F3F"/>
                </a:solidFill>
                <a:latin typeface="JetBrains Mono" pitchFamily="34" charset="0"/>
                <a:ea typeface="JetBrains Mono" pitchFamily="34" charset="-122"/>
                <a:cs typeface="JetBrains Mono" pitchFamily="34" charset="-120"/>
              </a:rPr>
              <a:t>~ 5 days</a:t>
            </a:r>
            <a:endParaRPr lang="en-US" sz="1650" dirty="0"/>
          </a:p>
        </p:txBody>
      </p:sp>
      <p:sp>
        <p:nvSpPr>
          <p:cNvPr id="18" name="Shape 15"/>
          <p:cNvSpPr/>
          <p:nvPr/>
        </p:nvSpPr>
        <p:spPr>
          <a:xfrm>
            <a:off x="1143000" y="9826704"/>
            <a:ext cx="16002000" cy="9525"/>
          </a:xfrm>
          <a:prstGeom prst="rect">
            <a:avLst/>
          </a:prstGeom>
          <a:solidFill>
            <a:srgbClr val="3D3929">
              <a:alpha val="14000"/>
            </a:srgbClr>
          </a:solidFill>
          <a:ln/>
        </p:spPr>
      </p:sp>
      <p:sp>
        <p:nvSpPr>
          <p:cNvPr id="19" name="Text 16"/>
          <p:cNvSpPr/>
          <p:nvPr/>
        </p:nvSpPr>
        <p:spPr>
          <a:xfrm>
            <a:off x="1143000" y="8504634"/>
            <a:ext cx="3335655" cy="1074420"/>
          </a:xfrm>
          <a:prstGeom prst="rect">
            <a:avLst/>
          </a:prstGeom>
          <a:noFill/>
          <a:ln/>
        </p:spPr>
        <p:txBody>
          <a:bodyPr wrap="square" lIns="25400" tIns="25400" rIns="25400" bIns="25400" rtlCol="0" anchor="t">
            <a:normAutofit/>
          </a:bodyPr>
          <a:lstStyle/>
          <a:p>
            <a:pPr algn="l" indent="0" marL="0">
              <a:buNone/>
            </a:pPr>
            <a:r>
              <a:rPr lang="en-US" sz="2700" b="1" spc="-27" kern="0" dirty="0">
                <a:solidFill>
                  <a:srgbClr val="3D3929"/>
                </a:solidFill>
                <a:latin typeface="Poppins" pitchFamily="34" charset="0"/>
                <a:ea typeface="Poppins" pitchFamily="34" charset="-122"/>
                <a:cs typeface="Poppins" pitchFamily="34" charset="-120"/>
              </a:rPr>
              <a:t>03 · Implementation</a:t>
            </a:r>
            <a:endParaRPr lang="en-US" sz="2700" dirty="0"/>
          </a:p>
        </p:txBody>
      </p:sp>
      <p:sp>
        <p:nvSpPr>
          <p:cNvPr id="20" name="Shape 17"/>
          <p:cNvSpPr/>
          <p:nvPr/>
        </p:nvSpPr>
        <p:spPr>
          <a:xfrm>
            <a:off x="4686300" y="8956120"/>
            <a:ext cx="10439400" cy="133350"/>
          </a:xfrm>
          <a:prstGeom prst="roundRect">
            <a:avLst>
              <a:gd name="adj" fmla="val 21429"/>
            </a:avLst>
          </a:prstGeom>
          <a:solidFill>
            <a:srgbClr val="DCD7C4"/>
          </a:solidFill>
          <a:ln/>
        </p:spPr>
      </p:sp>
      <p:sp>
        <p:nvSpPr>
          <p:cNvPr id="21" name="Shape 18"/>
          <p:cNvSpPr/>
          <p:nvPr/>
        </p:nvSpPr>
        <p:spPr>
          <a:xfrm>
            <a:off x="4686300" y="8956120"/>
            <a:ext cx="6472357" cy="133350"/>
          </a:xfrm>
          <a:prstGeom prst="roundRect">
            <a:avLst>
              <a:gd name="adj" fmla="val 21429"/>
            </a:avLst>
          </a:prstGeom>
          <a:solidFill>
            <a:srgbClr val="DA7756"/>
          </a:solidFill>
          <a:ln/>
        </p:spPr>
      </p:sp>
      <p:sp>
        <p:nvSpPr>
          <p:cNvPr id="22" name="Text 19"/>
          <p:cNvSpPr/>
          <p:nvPr/>
        </p:nvSpPr>
        <p:spPr>
          <a:xfrm>
            <a:off x="15354300" y="8885634"/>
            <a:ext cx="1790700" cy="312420"/>
          </a:xfrm>
          <a:prstGeom prst="rect">
            <a:avLst/>
          </a:prstGeom>
          <a:noFill/>
          <a:ln/>
        </p:spPr>
        <p:txBody>
          <a:bodyPr wrap="square" lIns="25400" tIns="25400" rIns="25400" bIns="25400" rtlCol="0" anchor="t">
            <a:normAutofit/>
          </a:bodyPr>
          <a:lstStyle/>
          <a:p>
            <a:pPr algn="r" indent="0" marL="0">
              <a:buNone/>
            </a:pPr>
            <a:r>
              <a:rPr lang="en-US" sz="1650" b="1" dirty="0">
                <a:solidFill>
                  <a:srgbClr val="B85F3F"/>
                </a:solidFill>
                <a:latin typeface="JetBrains Mono" pitchFamily="34" charset="0"/>
                <a:ea typeface="JetBrains Mono" pitchFamily="34" charset="-122"/>
                <a:cs typeface="JetBrains Mono" pitchFamily="34" charset="-120"/>
              </a:rPr>
              <a:t>~ 22 days</a:t>
            </a:r>
            <a:endParaRPr lang="en-US" sz="1650" dirty="0"/>
          </a:p>
        </p:txBody>
      </p:sp>
      <p:sp>
        <p:nvSpPr>
          <p:cNvPr id="23" name="Shape 20"/>
          <p:cNvSpPr/>
          <p:nvPr/>
        </p:nvSpPr>
        <p:spPr>
          <a:xfrm>
            <a:off x="1143000" y="10923984"/>
            <a:ext cx="16002000" cy="9525"/>
          </a:xfrm>
          <a:prstGeom prst="rect">
            <a:avLst/>
          </a:prstGeom>
          <a:solidFill>
            <a:srgbClr val="3D3929">
              <a:alpha val="14000"/>
            </a:srgbClr>
          </a:solidFill>
          <a:ln/>
        </p:spPr>
      </p:sp>
      <p:sp>
        <p:nvSpPr>
          <p:cNvPr id="24" name="Text 21"/>
          <p:cNvSpPr/>
          <p:nvPr/>
        </p:nvSpPr>
        <p:spPr>
          <a:xfrm>
            <a:off x="1143000" y="10120074"/>
            <a:ext cx="3335655" cy="556260"/>
          </a:xfrm>
          <a:prstGeom prst="rect">
            <a:avLst/>
          </a:prstGeom>
          <a:noFill/>
          <a:ln/>
        </p:spPr>
        <p:txBody>
          <a:bodyPr wrap="square" lIns="25400" tIns="25400" rIns="25400" bIns="25400" rtlCol="0" anchor="t">
            <a:normAutofit/>
          </a:bodyPr>
          <a:lstStyle/>
          <a:p>
            <a:pPr algn="l" indent="0" marL="0">
              <a:buNone/>
            </a:pPr>
            <a:r>
              <a:rPr lang="en-US" sz="2700" b="1" spc="-27" kern="0" dirty="0">
                <a:solidFill>
                  <a:srgbClr val="3D3929"/>
                </a:solidFill>
                <a:latin typeface="Poppins" pitchFamily="34" charset="0"/>
                <a:ea typeface="Poppins" pitchFamily="34" charset="-122"/>
                <a:cs typeface="Poppins" pitchFamily="34" charset="-120"/>
              </a:rPr>
              <a:t>04 · PR review · QA</a:t>
            </a:r>
            <a:endParaRPr lang="en-US" sz="2700" dirty="0"/>
          </a:p>
        </p:txBody>
      </p:sp>
      <p:sp>
        <p:nvSpPr>
          <p:cNvPr id="25" name="Shape 22"/>
          <p:cNvSpPr/>
          <p:nvPr/>
        </p:nvSpPr>
        <p:spPr>
          <a:xfrm>
            <a:off x="4686300" y="10312480"/>
            <a:ext cx="10439400" cy="133350"/>
          </a:xfrm>
          <a:prstGeom prst="roundRect">
            <a:avLst>
              <a:gd name="adj" fmla="val 21429"/>
            </a:avLst>
          </a:prstGeom>
          <a:solidFill>
            <a:srgbClr val="DCD7C4"/>
          </a:solidFill>
          <a:ln/>
        </p:spPr>
      </p:sp>
      <p:sp>
        <p:nvSpPr>
          <p:cNvPr id="26" name="Shape 23"/>
          <p:cNvSpPr/>
          <p:nvPr/>
        </p:nvSpPr>
        <p:spPr>
          <a:xfrm>
            <a:off x="4686300" y="10312480"/>
            <a:ext cx="3340537" cy="133350"/>
          </a:xfrm>
          <a:prstGeom prst="roundRect">
            <a:avLst>
              <a:gd name="adj" fmla="val 21429"/>
            </a:avLst>
          </a:prstGeom>
          <a:solidFill>
            <a:srgbClr val="3D3929"/>
          </a:solidFill>
          <a:ln/>
        </p:spPr>
      </p:sp>
      <p:sp>
        <p:nvSpPr>
          <p:cNvPr id="27" name="Text 24"/>
          <p:cNvSpPr/>
          <p:nvPr/>
        </p:nvSpPr>
        <p:spPr>
          <a:xfrm>
            <a:off x="15354300" y="10241995"/>
            <a:ext cx="1790700" cy="312420"/>
          </a:xfrm>
          <a:prstGeom prst="rect">
            <a:avLst/>
          </a:prstGeom>
          <a:noFill/>
          <a:ln/>
        </p:spPr>
        <p:txBody>
          <a:bodyPr wrap="square" lIns="25400" tIns="25400" rIns="25400" bIns="25400" rtlCol="0" anchor="t">
            <a:normAutofit/>
          </a:bodyPr>
          <a:lstStyle/>
          <a:p>
            <a:pPr algn="r" indent="0" marL="0">
              <a:buNone/>
            </a:pPr>
            <a:r>
              <a:rPr lang="en-US" sz="1650" b="1" dirty="0">
                <a:solidFill>
                  <a:srgbClr val="B85F3F"/>
                </a:solidFill>
                <a:latin typeface="JetBrains Mono" pitchFamily="34" charset="0"/>
                <a:ea typeface="JetBrains Mono" pitchFamily="34" charset="-122"/>
                <a:cs typeface="JetBrains Mono" pitchFamily="34" charset="-120"/>
              </a:rPr>
              <a:t>~ 11 days</a:t>
            </a:r>
            <a:endParaRPr lang="en-US" sz="1650" dirty="0"/>
          </a:p>
        </p:txBody>
      </p:sp>
      <p:sp>
        <p:nvSpPr>
          <p:cNvPr id="28" name="Text 25"/>
          <p:cNvSpPr/>
          <p:nvPr/>
        </p:nvSpPr>
        <p:spPr>
          <a:xfrm>
            <a:off x="1143000" y="11217355"/>
            <a:ext cx="3335655" cy="1074420"/>
          </a:xfrm>
          <a:prstGeom prst="rect">
            <a:avLst/>
          </a:prstGeom>
          <a:noFill/>
          <a:ln/>
        </p:spPr>
        <p:txBody>
          <a:bodyPr wrap="square" lIns="25400" tIns="25400" rIns="25400" bIns="25400" rtlCol="0" anchor="t">
            <a:normAutofit/>
          </a:bodyPr>
          <a:lstStyle/>
          <a:p>
            <a:pPr algn="l" indent="0" marL="0">
              <a:buNone/>
            </a:pPr>
            <a:r>
              <a:rPr lang="en-US" sz="2700" b="1" spc="-27" kern="0" dirty="0">
                <a:solidFill>
                  <a:srgbClr val="3D3929"/>
                </a:solidFill>
                <a:latin typeface="Poppins" pitchFamily="34" charset="0"/>
                <a:ea typeface="Poppins" pitchFamily="34" charset="-122"/>
                <a:cs typeface="Poppins" pitchFamily="34" charset="-120"/>
              </a:rPr>
              <a:t>05 · Deploy · monitor</a:t>
            </a:r>
            <a:endParaRPr lang="en-US" sz="2700" dirty="0"/>
          </a:p>
        </p:txBody>
      </p:sp>
      <p:sp>
        <p:nvSpPr>
          <p:cNvPr id="29" name="Shape 26"/>
          <p:cNvSpPr/>
          <p:nvPr/>
        </p:nvSpPr>
        <p:spPr>
          <a:xfrm>
            <a:off x="4686300" y="11668840"/>
            <a:ext cx="10439400" cy="133350"/>
          </a:xfrm>
          <a:prstGeom prst="roundRect">
            <a:avLst>
              <a:gd name="adj" fmla="val 21429"/>
            </a:avLst>
          </a:prstGeom>
          <a:solidFill>
            <a:srgbClr val="DCD7C4"/>
          </a:solidFill>
          <a:ln/>
        </p:spPr>
      </p:sp>
      <p:sp>
        <p:nvSpPr>
          <p:cNvPr id="30" name="Shape 27"/>
          <p:cNvSpPr/>
          <p:nvPr/>
        </p:nvSpPr>
        <p:spPr>
          <a:xfrm>
            <a:off x="4686300" y="11668840"/>
            <a:ext cx="1879044" cy="133350"/>
          </a:xfrm>
          <a:prstGeom prst="roundRect">
            <a:avLst>
              <a:gd name="adj" fmla="val 21429"/>
            </a:avLst>
          </a:prstGeom>
          <a:solidFill>
            <a:srgbClr val="3D3929"/>
          </a:solidFill>
          <a:ln/>
        </p:spPr>
      </p:sp>
      <p:sp>
        <p:nvSpPr>
          <p:cNvPr id="31" name="Text 28"/>
          <p:cNvSpPr/>
          <p:nvPr/>
        </p:nvSpPr>
        <p:spPr>
          <a:xfrm>
            <a:off x="15354300" y="11598355"/>
            <a:ext cx="1790700" cy="312420"/>
          </a:xfrm>
          <a:prstGeom prst="rect">
            <a:avLst/>
          </a:prstGeom>
          <a:noFill/>
          <a:ln/>
        </p:spPr>
        <p:txBody>
          <a:bodyPr wrap="square" lIns="25400" tIns="25400" rIns="25400" bIns="25400" rtlCol="0" anchor="t">
            <a:normAutofit/>
          </a:bodyPr>
          <a:lstStyle/>
          <a:p>
            <a:pPr algn="r" indent="0" marL="0">
              <a:buNone/>
            </a:pPr>
            <a:r>
              <a:rPr lang="en-US" sz="1650" b="1" dirty="0">
                <a:solidFill>
                  <a:srgbClr val="B85F3F"/>
                </a:solidFill>
                <a:latin typeface="JetBrains Mono" pitchFamily="34" charset="0"/>
                <a:ea typeface="JetBrains Mono" pitchFamily="34" charset="-122"/>
                <a:cs typeface="JetBrains Mono" pitchFamily="34" charset="-120"/>
              </a:rPr>
              <a:t>~ 6 days</a:t>
            </a:r>
            <a:endParaRPr lang="en-US" sz="1650" dirty="0"/>
          </a:p>
        </p:txBody>
      </p:sp>
      <p:sp>
        <p:nvSpPr>
          <p:cNvPr id="32" name="Text 29"/>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33" name="Text 30"/>
          <p:cNvSpPr/>
          <p:nvPr/>
        </p:nvSpPr>
        <p:spPr>
          <a:xfrm>
            <a:off x="13246537" y="9631680"/>
            <a:ext cx="4407847"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SOURCE · DORA 2024 · STATE OF DEVOPS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D3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EEECE2"/>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583847" y="502920"/>
            <a:ext cx="303041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03 / 15 · THE SOLUTION</a:t>
            </a:r>
            <a:endParaRPr lang="en-US" sz="1350" dirty="0"/>
          </a:p>
        </p:txBody>
      </p:sp>
      <p:sp>
        <p:nvSpPr>
          <p:cNvPr id="5" name="Text 2"/>
          <p:cNvSpPr/>
          <p:nvPr/>
        </p:nvSpPr>
        <p:spPr>
          <a:xfrm>
            <a:off x="1143000" y="2035492"/>
            <a:ext cx="784860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DA7756"/>
                </a:solidFill>
                <a:latin typeface="JetBrains Mono" pitchFamily="34" charset="0"/>
                <a:ea typeface="JetBrains Mono" pitchFamily="34" charset="-122"/>
                <a:cs typeface="JetBrains Mono" pitchFamily="34" charset="-120"/>
              </a:rPr>
              <a:t>▌ § 03 — THE SOLUTION</a:t>
            </a:r>
            <a:endParaRPr lang="en-US" sz="1500" dirty="0"/>
          </a:p>
        </p:txBody>
      </p:sp>
      <p:sp>
        <p:nvSpPr>
          <p:cNvPr id="6" name="Text 3"/>
          <p:cNvSpPr/>
          <p:nvPr/>
        </p:nvSpPr>
        <p:spPr>
          <a:xfrm>
            <a:off x="1143000" y="2561272"/>
            <a:ext cx="7848600" cy="55473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EEECE2"/>
                </a:solidFill>
                <a:latin typeface="Poppins" pitchFamily="34" charset="0"/>
                <a:ea typeface="Poppins" pitchFamily="34" charset="-122"/>
                <a:cs typeface="Poppins" pitchFamily="34" charset="-120"/>
              </a:rPr>
              <a:t>One command. Three hundred </a:t>
            </a:r>
            <a:pPr algn="l" indent="0" marL="0">
              <a:lnSpc>
                <a:spcPct val="96000"/>
              </a:lnSpc>
              <a:buNone/>
            </a:pPr>
            <a:r>
              <a:rPr lang="en-US" sz="9000" i="1" spc="-360" kern="0" dirty="0">
                <a:solidFill>
                  <a:srgbClr val="DA7756"/>
                </a:solidFill>
                <a:latin typeface="Lora" pitchFamily="34" charset="0"/>
                <a:ea typeface="Lora" pitchFamily="34" charset="-122"/>
                <a:cs typeface="Lora" pitchFamily="34" charset="-120"/>
              </a:rPr>
              <a:t>workers.</a:t>
            </a:r>
            <a:endParaRPr lang="en-US" sz="9000" dirty="0"/>
          </a:p>
        </p:txBody>
      </p:sp>
      <p:sp>
        <p:nvSpPr>
          <p:cNvPr id="7" name="Text 4"/>
          <p:cNvSpPr/>
          <p:nvPr/>
        </p:nvSpPr>
        <p:spPr>
          <a:xfrm>
            <a:off x="1143000" y="8337232"/>
            <a:ext cx="7848600" cy="2678311"/>
          </a:xfrm>
          <a:prstGeom prst="rect">
            <a:avLst/>
          </a:prstGeom>
          <a:noFill/>
          <a:ln/>
        </p:spPr>
        <p:txBody>
          <a:bodyPr wrap="square" lIns="25400" tIns="25400" rIns="25400" bIns="25400" rtlCol="0" anchor="t">
            <a:normAutofit/>
          </a:bodyPr>
          <a:lstStyle/>
          <a:p>
            <a:pPr algn="l" indent="0" marL="0">
              <a:lnSpc>
                <a:spcPct val="132000"/>
              </a:lnSpc>
              <a:buNone/>
            </a:pPr>
            <a:r>
              <a:rPr lang="en-US" sz="3150" i="1" dirty="0">
                <a:solidFill>
                  <a:srgbClr val="EEECE2">
                    <a:alpha val="65000"/>
                  </a:srgbClr>
                </a:solidFill>
                <a:latin typeface="Lora" pitchFamily="34" charset="0"/>
                <a:ea typeface="Lora" pitchFamily="34" charset="-122"/>
                <a:cs typeface="Lora" pitchFamily="34" charset="-120"/>
              </a:rPr>
              <a:t>An entire AI organization spins up the moment you press enter. Architect, engineers, reviewer, researcher, memory keeper — all running in parallel, all routed across 47 models.</a:t>
            </a:r>
            <a:endParaRPr lang="en-US" sz="3150" dirty="0"/>
          </a:p>
        </p:txBody>
      </p:sp>
      <p:sp>
        <p:nvSpPr>
          <p:cNvPr id="8" name="Shape 5"/>
          <p:cNvSpPr/>
          <p:nvPr/>
        </p:nvSpPr>
        <p:spPr>
          <a:xfrm>
            <a:off x="9525000" y="1524000"/>
            <a:ext cx="7620000" cy="9965056"/>
          </a:xfrm>
          <a:prstGeom prst="roundRect">
            <a:avLst>
              <a:gd name="adj" fmla="val 1500"/>
            </a:avLst>
          </a:prstGeom>
          <a:solidFill>
            <a:srgbClr val="2A261B"/>
          </a:solidFill>
          <a:ln w="7620">
            <a:solidFill>
              <a:srgbClr val="EEECE2">
                <a:alpha val="8000"/>
              </a:srgbClr>
            </a:solidFill>
            <a:prstDash val="solid"/>
          </a:ln>
          <a:effectLst>
            <a:outerShdw sx="100000" sy="100000" kx="0" ky="0" algn="bl" rotWithShape="0" blurRad="762000" dist="285750" dir="5400000">
              <a:srgbClr val="000000">
                <a:alpha val="50000"/>
              </a:srgbClr>
            </a:outerShdw>
          </a:effectLst>
        </p:spPr>
      </p:sp>
      <p:sp>
        <p:nvSpPr>
          <p:cNvPr id="9" name="Shape 6"/>
          <p:cNvSpPr/>
          <p:nvPr/>
        </p:nvSpPr>
        <p:spPr>
          <a:xfrm>
            <a:off x="9913620" y="2183130"/>
            <a:ext cx="6842760" cy="9525"/>
          </a:xfrm>
          <a:prstGeom prst="rect">
            <a:avLst/>
          </a:prstGeom>
          <a:solidFill>
            <a:srgbClr val="EEECE2">
              <a:alpha val="8000"/>
            </a:srgbClr>
          </a:solidFill>
          <a:ln/>
        </p:spPr>
      </p:sp>
      <p:sp>
        <p:nvSpPr>
          <p:cNvPr id="10" name="Shape 7"/>
          <p:cNvSpPr/>
          <p:nvPr/>
        </p:nvSpPr>
        <p:spPr>
          <a:xfrm>
            <a:off x="9913620" y="1857375"/>
            <a:ext cx="133350" cy="133350"/>
          </a:xfrm>
          <a:prstGeom prst="ellipse">
            <a:avLst/>
          </a:prstGeom>
          <a:solidFill>
            <a:srgbClr val="FF5F57"/>
          </a:solidFill>
          <a:ln/>
        </p:spPr>
      </p:sp>
      <p:sp>
        <p:nvSpPr>
          <p:cNvPr id="11" name="Shape 8"/>
          <p:cNvSpPr/>
          <p:nvPr/>
        </p:nvSpPr>
        <p:spPr>
          <a:xfrm>
            <a:off x="10142220" y="1857375"/>
            <a:ext cx="133350" cy="133350"/>
          </a:xfrm>
          <a:prstGeom prst="ellipse">
            <a:avLst/>
          </a:prstGeom>
          <a:solidFill>
            <a:srgbClr val="FEBC2E"/>
          </a:solidFill>
          <a:ln/>
        </p:spPr>
      </p:sp>
      <p:sp>
        <p:nvSpPr>
          <p:cNvPr id="12" name="Shape 9"/>
          <p:cNvSpPr/>
          <p:nvPr/>
        </p:nvSpPr>
        <p:spPr>
          <a:xfrm>
            <a:off x="10370820" y="1857375"/>
            <a:ext cx="133350" cy="133350"/>
          </a:xfrm>
          <a:prstGeom prst="ellipse">
            <a:avLst/>
          </a:prstGeom>
          <a:solidFill>
            <a:srgbClr val="28C840"/>
          </a:solidFill>
          <a:ln/>
        </p:spPr>
      </p:sp>
      <p:sp>
        <p:nvSpPr>
          <p:cNvPr id="13" name="Text 10"/>
          <p:cNvSpPr/>
          <p:nvPr/>
        </p:nvSpPr>
        <p:spPr>
          <a:xfrm>
            <a:off x="15384781" y="1836420"/>
            <a:ext cx="1447800" cy="213360"/>
          </a:xfrm>
          <a:prstGeom prst="rect">
            <a:avLst/>
          </a:prstGeom>
          <a:noFill/>
          <a:ln/>
        </p:spPr>
        <p:txBody>
          <a:bodyPr wrap="square" lIns="25400" tIns="25400" rIns="25400" bIns="25400" rtlCol="0" anchor="t">
            <a:normAutofit/>
          </a:bodyPr>
          <a:lstStyle/>
          <a:p>
            <a:pPr algn="l" indent="0" marL="0">
              <a:buNone/>
            </a:pPr>
            <a:r>
              <a:rPr lang="en-US" sz="1050" spc="90" kern="0" dirty="0">
                <a:solidFill>
                  <a:srgbClr val="8A8472"/>
                </a:solidFill>
                <a:latin typeface="JetBrains Mono" pitchFamily="34" charset="0"/>
                <a:ea typeface="JetBrains Mono" pitchFamily="34" charset="-122"/>
                <a:cs typeface="JetBrains Mono" pitchFamily="34" charset="-120"/>
              </a:rPr>
              <a:t>~/SYPNOSE · ZSH</a:t>
            </a:r>
            <a:endParaRPr lang="en-US" sz="1050" dirty="0"/>
          </a:p>
        </p:txBody>
      </p:sp>
      <p:sp>
        <p:nvSpPr>
          <p:cNvPr id="14" name="Text 11"/>
          <p:cNvSpPr/>
          <p:nvPr/>
        </p:nvSpPr>
        <p:spPr>
          <a:xfrm>
            <a:off x="9913620" y="2419350"/>
            <a:ext cx="7048043" cy="8719185"/>
          </a:xfrm>
          <a:prstGeom prst="rect">
            <a:avLst/>
          </a:prstGeom>
          <a:noFill/>
          <a:ln/>
        </p:spPr>
        <p:txBody>
          <a:bodyPr wrap="square" lIns="25400" tIns="25400" rIns="25400" bIns="25400" rtlCol="0" anchor="t">
            <a:normAutofit/>
          </a:bodyPr>
          <a:lstStyle/>
          <a:p>
            <a:pPr algn="l" indent="0" marL="0">
              <a:lnSpc>
                <a:spcPct val="155000"/>
              </a:lnSpc>
              <a:buNone/>
            </a:pPr>
            <a:r>
              <a:rPr lang="en-US" sz="2100" dirty="0">
                <a:solidFill>
                  <a:srgbClr val="DA7756"/>
                </a:solidFill>
                <a:latin typeface="JetBrains Mono" pitchFamily="34" charset="0"/>
                <a:ea typeface="JetBrains Mono" pitchFamily="34" charset="-122"/>
                <a:cs typeface="JetBrains Mono" pitchFamily="34" charset="-120"/>
              </a:rPr>
              <a:t>$</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sypnose build feature.md </a:t>
            </a:r>
            <a:pPr algn="l" indent="0" marL="0">
              <a:lnSpc>
                <a:spcPct val="155000"/>
              </a:lnSpc>
              <a:buNone/>
            </a:pPr>
            <a:r>
              <a:rPr lang="en-US" sz="2100" i="1" dirty="0">
                <a:solidFill>
                  <a:srgbClr val="7A7460"/>
                </a:solidFill>
                <a:latin typeface="JetBrains Mono" pitchFamily="34" charset="0"/>
                <a:ea typeface="JetBrains Mono" pitchFamily="34" charset="-122"/>
                <a:cs typeface="JetBrains Mono" pitchFamily="34" charset="-120"/>
              </a:rPr>
              <a:t># Architect dispatching plan... </a:t>
            </a:r>
            <a:pPr algn="l" indent="0" marL="0">
              <a:lnSpc>
                <a:spcPct val="155000"/>
              </a:lnSpc>
              <a:buNone/>
            </a:pPr>
            <a:r>
              <a:rPr lang="en-US" sz="2100" dirty="0">
                <a:solidFill>
                  <a:srgbClr val="A3C9AA"/>
                </a:solidFill>
                <a:latin typeface="JetBrains Mono" pitchFamily="34" charset="0"/>
                <a:ea typeface="JetBrains Mono" pitchFamily="34" charset="-122"/>
                <a:cs typeface="JetBrains Mono" pitchFamily="34" charset="-120"/>
              </a:rPr>
              <a:t>✓</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23 tasks · 7 dependency layers </a:t>
            </a:r>
            <a:pPr algn="l" indent="0" marL="0">
              <a:lnSpc>
                <a:spcPct val="155000"/>
              </a:lnSpc>
              <a:buNone/>
            </a:pPr>
            <a:r>
              <a:rPr lang="en-US" sz="2100" dirty="0">
                <a:solidFill>
                  <a:srgbClr val="A3C9AA"/>
                </a:solidFill>
                <a:latin typeface="JetBrains Mono" pitchFamily="34" charset="0"/>
                <a:ea typeface="JetBrains Mono" pitchFamily="34" charset="-122"/>
                <a:cs typeface="JetBrains Mono" pitchFamily="34" charset="-120"/>
              </a:rPr>
              <a:t>✓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spawning 142 parallel workers</a:t>
            </a:r>
            <a:endParaRPr lang="en-US" sz="2100" dirty="0"/>
          </a:p>
          <a:p>
            <a:pPr algn="l" indent="0" marL="0">
              <a:lnSpc>
                <a:spcPct val="155000"/>
              </a:lnSpc>
              <a:buNone/>
            </a:pP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architect ]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thinking · model: claude-opus</a:t>
            </a: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engineer-01 ]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route: gpt-5 · cost: $0.00</a:t>
            </a: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engineer-02 ]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route: gemini · cost: $0.00</a:t>
            </a: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engineer-03 ]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route: mistral · cost: $0.00</a:t>
            </a: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reviewer ]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idle · awaiting PR</a:t>
            </a: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memory ]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1708 entries · 4-yr index</a:t>
            </a:r>
            <a:endParaRPr lang="en-US" sz="2100" dirty="0"/>
          </a:p>
          <a:p>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a:t>
            </a:r>
            <a:endParaRPr lang="en-US" sz="2100" dirty="0"/>
          </a:p>
          <a:p>
            <a:pPr algn="l" indent="0" marL="0">
              <a:lnSpc>
                <a:spcPct val="155000"/>
              </a:lnSpc>
              <a:buNone/>
            </a:pPr>
            <a:r>
              <a:rPr lang="en-US" sz="2100" dirty="0">
                <a:solidFill>
                  <a:srgbClr val="CFB98A"/>
                </a:solidFill>
                <a:latin typeface="JetBrains Mono" pitchFamily="34" charset="0"/>
                <a:ea typeface="JetBrains Mono" pitchFamily="34" charset="-122"/>
                <a:cs typeface="JetBrains Mono" pitchFamily="34" charset="-120"/>
              </a:rPr>
              <a:t>[ researcher ]</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47 models routed </a:t>
            </a:r>
            <a:pPr algn="l" indent="0" marL="0">
              <a:lnSpc>
                <a:spcPct val="155000"/>
              </a:lnSpc>
              <a:buNone/>
            </a:pPr>
            <a:r>
              <a:rPr lang="en-US" sz="2100" i="1" dirty="0">
                <a:solidFill>
                  <a:srgbClr val="7A7460"/>
                </a:solidFill>
                <a:latin typeface="JetBrains Mono" pitchFamily="34" charset="0"/>
                <a:ea typeface="JetBrains Mono" pitchFamily="34" charset="-122"/>
                <a:cs typeface="JetBrains Mono" pitchFamily="34" charset="-120"/>
              </a:rPr>
              <a:t># Iron rule active </a:t>
            </a:r>
            <a:pPr algn="l" indent="0" marL="0">
              <a:lnSpc>
                <a:spcPct val="155000"/>
              </a:lnSpc>
              <a:buNone/>
            </a:pPr>
            <a:r>
              <a:rPr lang="en-US" sz="2100" dirty="0">
                <a:solidFill>
                  <a:srgbClr val="E8C068"/>
                </a:solidFill>
                <a:latin typeface="JetBrains Mono" pitchFamily="34" charset="0"/>
                <a:ea typeface="JetBrains Mono" pitchFamily="34" charset="-122"/>
                <a:cs typeface="JetBrains Mono" pitchFamily="34" charset="-120"/>
              </a:rPr>
              <a:t>⚡</a:t>
            </a:r>
            <a:pPr algn="l" indent="0" marL="0">
              <a:lnSpc>
                <a:spcPct val="155000"/>
              </a:lnSpc>
              <a:buNone/>
            </a:pPr>
            <a:r>
              <a:rPr lang="en-US" sz="2100" dirty="0">
                <a:solidFill>
                  <a:srgbClr val="EEECE2"/>
                </a:solidFill>
                <a:latin typeface="JetBrains Mono" pitchFamily="34" charset="0"/>
                <a:ea typeface="JetBrains Mono" pitchFamily="34" charset="-122"/>
                <a:cs typeface="JetBrains Mono" pitchFamily="34" charset="-120"/>
              </a:rPr>
              <a:t> no proof → no done</a:t>
            </a:r>
            <a:endParaRPr lang="en-US" sz="2100" dirty="0"/>
          </a:p>
        </p:txBody>
      </p:sp>
      <p:sp>
        <p:nvSpPr>
          <p:cNvPr id="15" name="Text 12"/>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SYPNOSE.CLOUD</a:t>
            </a:r>
            <a:endParaRPr lang="en-US" sz="1200" dirty="0"/>
          </a:p>
        </p:txBody>
      </p:sp>
      <p:sp>
        <p:nvSpPr>
          <p:cNvPr id="16" name="Text 13"/>
          <p:cNvSpPr/>
          <p:nvPr/>
        </p:nvSpPr>
        <p:spPr>
          <a:xfrm>
            <a:off x="11701224" y="9631680"/>
            <a:ext cx="5999519"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 CURL -FSSL HTTPS://SYPNOSE.CLOUD/INSTALL | BASH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583847" y="502920"/>
            <a:ext cx="303041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04 / 15 · THE PIPELINE</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04 — FIVE-STEP PIPELINE</a:t>
            </a:r>
            <a:endParaRPr lang="en-US" sz="1500" dirty="0"/>
          </a:p>
        </p:txBody>
      </p:sp>
      <p:sp>
        <p:nvSpPr>
          <p:cNvPr id="6" name="Text 3"/>
          <p:cNvSpPr/>
          <p:nvPr/>
        </p:nvSpPr>
        <p:spPr>
          <a:xfrm>
            <a:off x="1143000" y="2049780"/>
            <a:ext cx="16482060"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Gateway. Architect. Workers. Reviewer. Memory.</a:t>
            </a:r>
            <a:endParaRPr lang="en-US" sz="9000" dirty="0"/>
          </a:p>
        </p:txBody>
      </p:sp>
      <p:sp>
        <p:nvSpPr>
          <p:cNvPr id="7" name="Shape 4"/>
          <p:cNvSpPr/>
          <p:nvPr/>
        </p:nvSpPr>
        <p:spPr>
          <a:xfrm>
            <a:off x="1143000" y="4625340"/>
            <a:ext cx="3017520" cy="2669858"/>
          </a:xfrm>
          <a:prstGeom prst="roundRect">
            <a:avLst>
              <a:gd name="adj" fmla="val 4995"/>
            </a:avLst>
          </a:prstGeom>
          <a:solidFill>
            <a:srgbClr val="EEECE2"/>
          </a:solidFill>
          <a:ln w="15240">
            <a:solidFill>
              <a:srgbClr val="3D3929"/>
            </a:solidFill>
            <a:prstDash val="solid"/>
          </a:ln>
        </p:spPr>
      </p:sp>
      <p:sp>
        <p:nvSpPr>
          <p:cNvPr id="8" name="Text 5"/>
          <p:cNvSpPr/>
          <p:nvPr/>
        </p:nvSpPr>
        <p:spPr>
          <a:xfrm>
            <a:off x="1386840" y="4907280"/>
            <a:ext cx="260604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B85F3F"/>
                </a:solidFill>
                <a:latin typeface="JetBrains Mono" pitchFamily="34" charset="0"/>
                <a:ea typeface="JetBrains Mono" pitchFamily="34" charset="-122"/>
                <a:cs typeface="JetBrains Mono" pitchFamily="34" charset="-120"/>
              </a:rPr>
              <a:t>▌ 01</a:t>
            </a:r>
            <a:endParaRPr lang="en-US" sz="1200" dirty="0"/>
          </a:p>
        </p:txBody>
      </p:sp>
      <p:sp>
        <p:nvSpPr>
          <p:cNvPr id="9" name="Text 6"/>
          <p:cNvSpPr/>
          <p:nvPr/>
        </p:nvSpPr>
        <p:spPr>
          <a:xfrm>
            <a:off x="1386840" y="5238750"/>
            <a:ext cx="2606040" cy="525780"/>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3D3929"/>
                </a:solidFill>
                <a:latin typeface="Poppins" pitchFamily="34" charset="0"/>
                <a:ea typeface="Poppins" pitchFamily="34" charset="-122"/>
                <a:cs typeface="Poppins" pitchFamily="34" charset="-120"/>
              </a:rPr>
              <a:t>Gateway</a:t>
            </a:r>
            <a:endParaRPr lang="en-US" sz="2550" dirty="0"/>
          </a:p>
        </p:txBody>
      </p:sp>
      <p:sp>
        <p:nvSpPr>
          <p:cNvPr id="10" name="Text 7"/>
          <p:cNvSpPr/>
          <p:nvPr/>
        </p:nvSpPr>
        <p:spPr>
          <a:xfrm>
            <a:off x="1386840" y="5859780"/>
            <a:ext cx="2606040"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Accepts your natural-language command. Routes intent. Loads project memory.</a:t>
            </a:r>
            <a:endParaRPr lang="en-US" sz="1350" dirty="0"/>
          </a:p>
        </p:txBody>
      </p:sp>
      <p:sp>
        <p:nvSpPr>
          <p:cNvPr id="11" name="Text 8"/>
          <p:cNvSpPr/>
          <p:nvPr/>
        </p:nvSpPr>
        <p:spPr>
          <a:xfrm>
            <a:off x="1386840" y="6738938"/>
            <a:ext cx="2606040" cy="31242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DA7756"/>
                </a:solidFill>
                <a:latin typeface="JetBrains Mono" pitchFamily="34" charset="0"/>
                <a:ea typeface="JetBrains Mono" pitchFamily="34" charset="-122"/>
                <a:cs typeface="JetBrains Mono" pitchFamily="34" charset="-120"/>
              </a:rPr>
              <a:t>741 ms · A2A</a:t>
            </a:r>
            <a:endParaRPr lang="en-US" sz="1650" dirty="0"/>
          </a:p>
        </p:txBody>
      </p:sp>
      <p:sp>
        <p:nvSpPr>
          <p:cNvPr id="12" name="Text 9"/>
          <p:cNvSpPr/>
          <p:nvPr/>
        </p:nvSpPr>
        <p:spPr>
          <a:xfrm>
            <a:off x="4050030" y="5758339"/>
            <a:ext cx="381000" cy="441960"/>
          </a:xfrm>
          <a:prstGeom prst="rect">
            <a:avLst/>
          </a:prstGeom>
          <a:noFill/>
          <a:ln/>
        </p:spPr>
        <p:txBody>
          <a:bodyPr wrap="square" lIns="25400" tIns="25400" rIns="25400" bIns="25400" rtlCol="0" anchor="t">
            <a:normAutofit/>
          </a:bodyPr>
          <a:lstStyle/>
          <a:p>
            <a:pPr algn="l" indent="0" marL="0">
              <a:buNone/>
            </a:pPr>
            <a:r>
              <a:rPr lang="en-US" sz="2400" dirty="0">
                <a:solidFill>
                  <a:srgbClr val="DA7756"/>
                </a:solidFill>
                <a:latin typeface="JetBrains Mono" pitchFamily="34" charset="0"/>
                <a:ea typeface="JetBrains Mono" pitchFamily="34" charset="-122"/>
                <a:cs typeface="JetBrains Mono" pitchFamily="34" charset="-120"/>
              </a:rPr>
              <a:t>→</a:t>
            </a:r>
            <a:endParaRPr lang="en-US" sz="2400" dirty="0"/>
          </a:p>
        </p:txBody>
      </p:sp>
      <p:sp>
        <p:nvSpPr>
          <p:cNvPr id="13" name="Shape 10"/>
          <p:cNvSpPr/>
          <p:nvPr/>
        </p:nvSpPr>
        <p:spPr>
          <a:xfrm>
            <a:off x="4389120" y="4625340"/>
            <a:ext cx="3017520" cy="2669858"/>
          </a:xfrm>
          <a:prstGeom prst="roundRect">
            <a:avLst>
              <a:gd name="adj" fmla="val 4995"/>
            </a:avLst>
          </a:prstGeom>
          <a:solidFill>
            <a:srgbClr val="EEECE2"/>
          </a:solidFill>
          <a:ln w="15240">
            <a:solidFill>
              <a:srgbClr val="3D3929"/>
            </a:solidFill>
            <a:prstDash val="solid"/>
          </a:ln>
        </p:spPr>
      </p:sp>
      <p:sp>
        <p:nvSpPr>
          <p:cNvPr id="14" name="Text 11"/>
          <p:cNvSpPr/>
          <p:nvPr/>
        </p:nvSpPr>
        <p:spPr>
          <a:xfrm>
            <a:off x="4632960" y="4907280"/>
            <a:ext cx="260604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B85F3F"/>
                </a:solidFill>
                <a:latin typeface="JetBrains Mono" pitchFamily="34" charset="0"/>
                <a:ea typeface="JetBrains Mono" pitchFamily="34" charset="-122"/>
                <a:cs typeface="JetBrains Mono" pitchFamily="34" charset="-120"/>
              </a:rPr>
              <a:t>▌ 02</a:t>
            </a:r>
            <a:endParaRPr lang="en-US" sz="1200" dirty="0"/>
          </a:p>
        </p:txBody>
      </p:sp>
      <p:sp>
        <p:nvSpPr>
          <p:cNvPr id="15" name="Text 12"/>
          <p:cNvSpPr/>
          <p:nvPr/>
        </p:nvSpPr>
        <p:spPr>
          <a:xfrm>
            <a:off x="4632960" y="5238750"/>
            <a:ext cx="2606040" cy="525780"/>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3D3929"/>
                </a:solidFill>
                <a:latin typeface="Poppins" pitchFamily="34" charset="0"/>
                <a:ea typeface="Poppins" pitchFamily="34" charset="-122"/>
                <a:cs typeface="Poppins" pitchFamily="34" charset="-120"/>
              </a:rPr>
              <a:t>Architect</a:t>
            </a:r>
            <a:endParaRPr lang="en-US" sz="2550" dirty="0"/>
          </a:p>
        </p:txBody>
      </p:sp>
      <p:sp>
        <p:nvSpPr>
          <p:cNvPr id="16" name="Text 13"/>
          <p:cNvSpPr/>
          <p:nvPr/>
        </p:nvSpPr>
        <p:spPr>
          <a:xfrm>
            <a:off x="4632960" y="5859780"/>
            <a:ext cx="2606040"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Decomposes into a dependency graph. 23 tasks across 7 layers, on average.</a:t>
            </a:r>
            <a:endParaRPr lang="en-US" sz="1350" dirty="0"/>
          </a:p>
        </p:txBody>
      </p:sp>
      <p:sp>
        <p:nvSpPr>
          <p:cNvPr id="17" name="Text 14"/>
          <p:cNvSpPr/>
          <p:nvPr/>
        </p:nvSpPr>
        <p:spPr>
          <a:xfrm>
            <a:off x="4632960" y="6738938"/>
            <a:ext cx="2606040" cy="31242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DA7756"/>
                </a:solidFill>
                <a:latin typeface="JetBrains Mono" pitchFamily="34" charset="0"/>
                <a:ea typeface="JetBrains Mono" pitchFamily="34" charset="-122"/>
                <a:cs typeface="JetBrains Mono" pitchFamily="34" charset="-120"/>
              </a:rPr>
              <a:t>7 layers · avg</a:t>
            </a:r>
            <a:endParaRPr lang="en-US" sz="1650" dirty="0"/>
          </a:p>
        </p:txBody>
      </p:sp>
      <p:sp>
        <p:nvSpPr>
          <p:cNvPr id="18" name="Text 15"/>
          <p:cNvSpPr/>
          <p:nvPr/>
        </p:nvSpPr>
        <p:spPr>
          <a:xfrm>
            <a:off x="7296150" y="5758339"/>
            <a:ext cx="381000" cy="441960"/>
          </a:xfrm>
          <a:prstGeom prst="rect">
            <a:avLst/>
          </a:prstGeom>
          <a:noFill/>
          <a:ln/>
        </p:spPr>
        <p:txBody>
          <a:bodyPr wrap="square" lIns="25400" tIns="25400" rIns="25400" bIns="25400" rtlCol="0" anchor="t">
            <a:normAutofit/>
          </a:bodyPr>
          <a:lstStyle/>
          <a:p>
            <a:pPr algn="l" indent="0" marL="0">
              <a:buNone/>
            </a:pPr>
            <a:r>
              <a:rPr lang="en-US" sz="2400" dirty="0">
                <a:solidFill>
                  <a:srgbClr val="DA7756"/>
                </a:solidFill>
                <a:latin typeface="JetBrains Mono" pitchFamily="34" charset="0"/>
                <a:ea typeface="JetBrains Mono" pitchFamily="34" charset="-122"/>
                <a:cs typeface="JetBrains Mono" pitchFamily="34" charset="-120"/>
              </a:rPr>
              <a:t>→</a:t>
            </a:r>
            <a:endParaRPr lang="en-US" sz="2400" dirty="0"/>
          </a:p>
        </p:txBody>
      </p:sp>
      <p:sp>
        <p:nvSpPr>
          <p:cNvPr id="19" name="Shape 16"/>
          <p:cNvSpPr/>
          <p:nvPr/>
        </p:nvSpPr>
        <p:spPr>
          <a:xfrm>
            <a:off x="7635240" y="4625340"/>
            <a:ext cx="3017520" cy="2669858"/>
          </a:xfrm>
          <a:prstGeom prst="roundRect">
            <a:avLst>
              <a:gd name="adj" fmla="val 4995"/>
            </a:avLst>
          </a:prstGeom>
          <a:solidFill>
            <a:srgbClr val="DA7756"/>
          </a:solidFill>
          <a:ln w="15240">
            <a:solidFill>
              <a:srgbClr val="3D3929"/>
            </a:solidFill>
            <a:prstDash val="solid"/>
          </a:ln>
        </p:spPr>
      </p:sp>
      <p:sp>
        <p:nvSpPr>
          <p:cNvPr id="20" name="Text 17"/>
          <p:cNvSpPr/>
          <p:nvPr/>
        </p:nvSpPr>
        <p:spPr>
          <a:xfrm>
            <a:off x="7879080" y="4907280"/>
            <a:ext cx="260604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3D3929"/>
                </a:solidFill>
                <a:latin typeface="JetBrains Mono" pitchFamily="34" charset="0"/>
                <a:ea typeface="JetBrains Mono" pitchFamily="34" charset="-122"/>
                <a:cs typeface="JetBrains Mono" pitchFamily="34" charset="-120"/>
              </a:rPr>
              <a:t>▌ 03</a:t>
            </a:r>
            <a:endParaRPr lang="en-US" sz="1200" dirty="0"/>
          </a:p>
        </p:txBody>
      </p:sp>
      <p:sp>
        <p:nvSpPr>
          <p:cNvPr id="21" name="Text 18"/>
          <p:cNvSpPr/>
          <p:nvPr/>
        </p:nvSpPr>
        <p:spPr>
          <a:xfrm>
            <a:off x="7879080" y="5238750"/>
            <a:ext cx="2606040" cy="525780"/>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3D3929"/>
                </a:solidFill>
                <a:latin typeface="Poppins" pitchFamily="34" charset="0"/>
                <a:ea typeface="Poppins" pitchFamily="34" charset="-122"/>
                <a:cs typeface="Poppins" pitchFamily="34" charset="-120"/>
              </a:rPr>
              <a:t>300 Workers</a:t>
            </a:r>
            <a:endParaRPr lang="en-US" sz="2550" dirty="0"/>
          </a:p>
        </p:txBody>
      </p:sp>
      <p:sp>
        <p:nvSpPr>
          <p:cNvPr id="22" name="Text 19"/>
          <p:cNvSpPr/>
          <p:nvPr/>
        </p:nvSpPr>
        <p:spPr>
          <a:xfrm>
            <a:off x="7879080" y="5859780"/>
            <a:ext cx="2606040"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Spawned in parallel. Routed across 47 models. 95% on free tiers.</a:t>
            </a:r>
            <a:endParaRPr lang="en-US" sz="1350" dirty="0"/>
          </a:p>
        </p:txBody>
      </p:sp>
      <p:sp>
        <p:nvSpPr>
          <p:cNvPr id="23" name="Text 20"/>
          <p:cNvSpPr/>
          <p:nvPr/>
        </p:nvSpPr>
        <p:spPr>
          <a:xfrm>
            <a:off x="7879080" y="6738938"/>
            <a:ext cx="2606040" cy="31242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3D3929"/>
                </a:solidFill>
                <a:latin typeface="JetBrains Mono" pitchFamily="34" charset="0"/>
                <a:ea typeface="JetBrains Mono" pitchFamily="34" charset="-122"/>
                <a:cs typeface="JetBrains Mono" pitchFamily="34" charset="-120"/>
              </a:rPr>
              <a:t>300 · 47 models</a:t>
            </a:r>
            <a:endParaRPr lang="en-US" sz="1650" dirty="0"/>
          </a:p>
        </p:txBody>
      </p:sp>
      <p:sp>
        <p:nvSpPr>
          <p:cNvPr id="24" name="Text 21"/>
          <p:cNvSpPr/>
          <p:nvPr/>
        </p:nvSpPr>
        <p:spPr>
          <a:xfrm>
            <a:off x="10542270" y="5758339"/>
            <a:ext cx="381000" cy="441960"/>
          </a:xfrm>
          <a:prstGeom prst="rect">
            <a:avLst/>
          </a:prstGeom>
          <a:noFill/>
          <a:ln/>
        </p:spPr>
        <p:txBody>
          <a:bodyPr wrap="square" lIns="25400" tIns="25400" rIns="25400" bIns="25400" rtlCol="0" anchor="t">
            <a:normAutofit/>
          </a:bodyPr>
          <a:lstStyle/>
          <a:p>
            <a:pPr algn="l" indent="0" marL="0">
              <a:buNone/>
            </a:pPr>
            <a:r>
              <a:rPr lang="en-US" sz="2400" dirty="0">
                <a:solidFill>
                  <a:srgbClr val="3D3929"/>
                </a:solidFill>
                <a:latin typeface="JetBrains Mono" pitchFamily="34" charset="0"/>
                <a:ea typeface="JetBrains Mono" pitchFamily="34" charset="-122"/>
                <a:cs typeface="JetBrains Mono" pitchFamily="34" charset="-120"/>
              </a:rPr>
              <a:t>→</a:t>
            </a:r>
            <a:endParaRPr lang="en-US" sz="2400" dirty="0"/>
          </a:p>
        </p:txBody>
      </p:sp>
      <p:sp>
        <p:nvSpPr>
          <p:cNvPr id="25" name="Shape 22"/>
          <p:cNvSpPr/>
          <p:nvPr/>
        </p:nvSpPr>
        <p:spPr>
          <a:xfrm>
            <a:off x="10881360" y="4625340"/>
            <a:ext cx="3017520" cy="2669858"/>
          </a:xfrm>
          <a:prstGeom prst="roundRect">
            <a:avLst>
              <a:gd name="adj" fmla="val 4995"/>
            </a:avLst>
          </a:prstGeom>
          <a:solidFill>
            <a:srgbClr val="EEECE2"/>
          </a:solidFill>
          <a:ln w="15240">
            <a:solidFill>
              <a:srgbClr val="3D3929"/>
            </a:solidFill>
            <a:prstDash val="solid"/>
          </a:ln>
        </p:spPr>
      </p:sp>
      <p:sp>
        <p:nvSpPr>
          <p:cNvPr id="26" name="Text 23"/>
          <p:cNvSpPr/>
          <p:nvPr/>
        </p:nvSpPr>
        <p:spPr>
          <a:xfrm>
            <a:off x="11125200" y="4907280"/>
            <a:ext cx="260604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B85F3F"/>
                </a:solidFill>
                <a:latin typeface="JetBrains Mono" pitchFamily="34" charset="0"/>
                <a:ea typeface="JetBrains Mono" pitchFamily="34" charset="-122"/>
                <a:cs typeface="JetBrains Mono" pitchFamily="34" charset="-120"/>
              </a:rPr>
              <a:t>▌ 04</a:t>
            </a:r>
            <a:endParaRPr lang="en-US" sz="1200" dirty="0"/>
          </a:p>
        </p:txBody>
      </p:sp>
      <p:sp>
        <p:nvSpPr>
          <p:cNvPr id="27" name="Text 24"/>
          <p:cNvSpPr/>
          <p:nvPr/>
        </p:nvSpPr>
        <p:spPr>
          <a:xfrm>
            <a:off x="11125200" y="5238750"/>
            <a:ext cx="2606040" cy="525780"/>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3D3929"/>
                </a:solidFill>
                <a:latin typeface="Poppins" pitchFamily="34" charset="0"/>
                <a:ea typeface="Poppins" pitchFamily="34" charset="-122"/>
                <a:cs typeface="Poppins" pitchFamily="34" charset="-120"/>
              </a:rPr>
              <a:t>Reviewer</a:t>
            </a:r>
            <a:endParaRPr lang="en-US" sz="2550" dirty="0"/>
          </a:p>
        </p:txBody>
      </p:sp>
      <p:sp>
        <p:nvSpPr>
          <p:cNvPr id="28" name="Text 25"/>
          <p:cNvSpPr/>
          <p:nvPr/>
        </p:nvSpPr>
        <p:spPr>
          <a:xfrm>
            <a:off x="11125200" y="5859780"/>
            <a:ext cx="2606040"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Scores every PR against spec and tests. The Iron Rule lives here.</a:t>
            </a:r>
            <a:endParaRPr lang="en-US" sz="1350" dirty="0"/>
          </a:p>
        </p:txBody>
      </p:sp>
      <p:sp>
        <p:nvSpPr>
          <p:cNvPr id="29" name="Text 26"/>
          <p:cNvSpPr/>
          <p:nvPr/>
        </p:nvSpPr>
        <p:spPr>
          <a:xfrm>
            <a:off x="11125200" y="6738938"/>
            <a:ext cx="2606040" cy="31242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DA7756"/>
                </a:solidFill>
                <a:latin typeface="JetBrains Mono" pitchFamily="34" charset="0"/>
                <a:ea typeface="JetBrains Mono" pitchFamily="34" charset="-122"/>
                <a:cs typeface="JetBrains Mono" pitchFamily="34" charset="-120"/>
              </a:rPr>
              <a:t>93% · 1st pass</a:t>
            </a:r>
            <a:endParaRPr lang="en-US" sz="1650" dirty="0"/>
          </a:p>
        </p:txBody>
      </p:sp>
      <p:sp>
        <p:nvSpPr>
          <p:cNvPr id="30" name="Text 27"/>
          <p:cNvSpPr/>
          <p:nvPr/>
        </p:nvSpPr>
        <p:spPr>
          <a:xfrm>
            <a:off x="13788390" y="5758339"/>
            <a:ext cx="381000" cy="441960"/>
          </a:xfrm>
          <a:prstGeom prst="rect">
            <a:avLst/>
          </a:prstGeom>
          <a:noFill/>
          <a:ln/>
        </p:spPr>
        <p:txBody>
          <a:bodyPr wrap="square" lIns="25400" tIns="25400" rIns="25400" bIns="25400" rtlCol="0" anchor="t">
            <a:normAutofit/>
          </a:bodyPr>
          <a:lstStyle/>
          <a:p>
            <a:pPr algn="l" indent="0" marL="0">
              <a:buNone/>
            </a:pPr>
            <a:r>
              <a:rPr lang="en-US" sz="2400" dirty="0">
                <a:solidFill>
                  <a:srgbClr val="DA7756"/>
                </a:solidFill>
                <a:latin typeface="JetBrains Mono" pitchFamily="34" charset="0"/>
                <a:ea typeface="JetBrains Mono" pitchFamily="34" charset="-122"/>
                <a:cs typeface="JetBrains Mono" pitchFamily="34" charset="-120"/>
              </a:rPr>
              <a:t>→</a:t>
            </a:r>
            <a:endParaRPr lang="en-US" sz="2400" dirty="0"/>
          </a:p>
        </p:txBody>
      </p:sp>
      <p:sp>
        <p:nvSpPr>
          <p:cNvPr id="31" name="Shape 28"/>
          <p:cNvSpPr/>
          <p:nvPr/>
        </p:nvSpPr>
        <p:spPr>
          <a:xfrm>
            <a:off x="14127481" y="4625340"/>
            <a:ext cx="3017520" cy="2669858"/>
          </a:xfrm>
          <a:prstGeom prst="roundRect">
            <a:avLst>
              <a:gd name="adj" fmla="val 4995"/>
            </a:avLst>
          </a:prstGeom>
          <a:solidFill>
            <a:srgbClr val="EEECE2"/>
          </a:solidFill>
          <a:ln w="15240">
            <a:solidFill>
              <a:srgbClr val="3D3929"/>
            </a:solidFill>
            <a:prstDash val="solid"/>
          </a:ln>
        </p:spPr>
      </p:sp>
      <p:sp>
        <p:nvSpPr>
          <p:cNvPr id="32" name="Text 29"/>
          <p:cNvSpPr/>
          <p:nvPr/>
        </p:nvSpPr>
        <p:spPr>
          <a:xfrm>
            <a:off x="14371320" y="4907280"/>
            <a:ext cx="260604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B85F3F"/>
                </a:solidFill>
                <a:latin typeface="JetBrains Mono" pitchFamily="34" charset="0"/>
                <a:ea typeface="JetBrains Mono" pitchFamily="34" charset="-122"/>
                <a:cs typeface="JetBrains Mono" pitchFamily="34" charset="-120"/>
              </a:rPr>
              <a:t>▌ 05</a:t>
            </a:r>
            <a:endParaRPr lang="en-US" sz="1200" dirty="0"/>
          </a:p>
        </p:txBody>
      </p:sp>
      <p:sp>
        <p:nvSpPr>
          <p:cNvPr id="33" name="Text 30"/>
          <p:cNvSpPr/>
          <p:nvPr/>
        </p:nvSpPr>
        <p:spPr>
          <a:xfrm>
            <a:off x="14371320" y="5238750"/>
            <a:ext cx="2606040" cy="525780"/>
          </a:xfrm>
          <a:prstGeom prst="rect">
            <a:avLst/>
          </a:prstGeom>
          <a:noFill/>
          <a:ln/>
        </p:spPr>
        <p:txBody>
          <a:bodyPr wrap="square" lIns="25400" tIns="25400" rIns="25400" bIns="25400" rtlCol="0" anchor="t">
            <a:normAutofit/>
          </a:bodyPr>
          <a:lstStyle/>
          <a:p>
            <a:pPr algn="l" indent="0" marL="0">
              <a:buNone/>
            </a:pPr>
            <a:r>
              <a:rPr lang="en-US" sz="2550" b="1" spc="-38" kern="0" dirty="0">
                <a:solidFill>
                  <a:srgbClr val="3D3929"/>
                </a:solidFill>
                <a:latin typeface="Poppins" pitchFamily="34" charset="0"/>
                <a:ea typeface="Poppins" pitchFamily="34" charset="-122"/>
                <a:cs typeface="Poppins" pitchFamily="34" charset="-120"/>
              </a:rPr>
              <a:t>Memory</a:t>
            </a:r>
            <a:endParaRPr lang="en-US" sz="2550" dirty="0"/>
          </a:p>
        </p:txBody>
      </p:sp>
      <p:sp>
        <p:nvSpPr>
          <p:cNvPr id="34" name="Text 31"/>
          <p:cNvSpPr/>
          <p:nvPr/>
        </p:nvSpPr>
        <p:spPr>
          <a:xfrm>
            <a:off x="14371320" y="5859780"/>
            <a:ext cx="2606040"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Indexes the result. Next command starts smarter. Postgres + pgvector.</a:t>
            </a:r>
            <a:endParaRPr lang="en-US" sz="1350" dirty="0"/>
          </a:p>
        </p:txBody>
      </p:sp>
      <p:sp>
        <p:nvSpPr>
          <p:cNvPr id="35" name="Text 32"/>
          <p:cNvSpPr/>
          <p:nvPr/>
        </p:nvSpPr>
        <p:spPr>
          <a:xfrm>
            <a:off x="14371320" y="6738938"/>
            <a:ext cx="2606040" cy="31242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DA7756"/>
                </a:solidFill>
                <a:latin typeface="JetBrains Mono" pitchFamily="34" charset="0"/>
                <a:ea typeface="JetBrains Mono" pitchFamily="34" charset="-122"/>
                <a:cs typeface="JetBrains Mono" pitchFamily="34" charset="-120"/>
              </a:rPr>
              <a:t>4-year · horizon</a:t>
            </a:r>
            <a:endParaRPr lang="en-US" sz="1650" dirty="0"/>
          </a:p>
        </p:txBody>
      </p:sp>
      <p:sp>
        <p:nvSpPr>
          <p:cNvPr id="36" name="Text 33"/>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37" name="Text 34"/>
          <p:cNvSpPr/>
          <p:nvPr/>
        </p:nvSpPr>
        <p:spPr>
          <a:xfrm>
            <a:off x="12889945" y="9631680"/>
            <a:ext cx="4775137"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ARCHITECTURE · NO MIDDLEWARE · NO MAGIC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3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EEECE2"/>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450140" y="502920"/>
            <a:ext cx="3168137"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05 / 15 · THE IRON RULE</a:t>
            </a:r>
            <a:endParaRPr lang="en-US" sz="1350" dirty="0"/>
          </a:p>
        </p:txBody>
      </p:sp>
      <p:sp>
        <p:nvSpPr>
          <p:cNvPr id="5" name="Text 2"/>
          <p:cNvSpPr/>
          <p:nvPr/>
        </p:nvSpPr>
        <p:spPr>
          <a:xfrm>
            <a:off x="1143000" y="1476375"/>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DA7756"/>
                </a:solidFill>
                <a:latin typeface="JetBrains Mono" pitchFamily="34" charset="0"/>
                <a:ea typeface="JetBrains Mono" pitchFamily="34" charset="-122"/>
                <a:cs typeface="JetBrains Mono" pitchFamily="34" charset="-120"/>
              </a:rPr>
              <a:t>▌ § 05 — THE IRON RULE</a:t>
            </a:r>
            <a:endParaRPr lang="en-US" sz="1500" dirty="0"/>
          </a:p>
        </p:txBody>
      </p:sp>
      <p:sp>
        <p:nvSpPr>
          <p:cNvPr id="6" name="Text 3"/>
          <p:cNvSpPr/>
          <p:nvPr/>
        </p:nvSpPr>
        <p:spPr>
          <a:xfrm>
            <a:off x="1143000" y="2002155"/>
            <a:ext cx="14716125" cy="3086100"/>
          </a:xfrm>
          <a:prstGeom prst="rect">
            <a:avLst/>
          </a:prstGeom>
          <a:noFill/>
          <a:ln/>
        </p:spPr>
        <p:txBody>
          <a:bodyPr wrap="square" lIns="25400" tIns="25400" rIns="25400" bIns="25400" rtlCol="0" anchor="t">
            <a:normAutofit/>
          </a:bodyPr>
          <a:lstStyle/>
          <a:p>
            <a:pPr algn="l" indent="0" marL="0">
              <a:lnSpc>
                <a:spcPct val="100000"/>
              </a:lnSpc>
              <a:buNone/>
            </a:pPr>
            <a:r>
              <a:rPr lang="en-US" sz="12000" i="1" spc="-360" kern="0" dirty="0">
                <a:solidFill>
                  <a:srgbClr val="EEECE2"/>
                </a:solidFill>
                <a:latin typeface="Lora" pitchFamily="34" charset="0"/>
                <a:ea typeface="Lora" pitchFamily="34" charset="-122"/>
                <a:cs typeface="Lora" pitchFamily="34" charset="-120"/>
              </a:rPr>
              <a:t>“No proof, </a:t>
            </a:r>
            <a:pPr algn="l" indent="0" marL="0">
              <a:lnSpc>
                <a:spcPct val="100000"/>
              </a:lnSpc>
              <a:buNone/>
            </a:pPr>
            <a:r>
              <a:rPr lang="en-US" sz="12000" i="1" spc="-360" kern="0" dirty="0">
                <a:solidFill>
                  <a:srgbClr val="DA7756"/>
                </a:solidFill>
                <a:latin typeface="Lora" pitchFamily="34" charset="0"/>
                <a:ea typeface="Lora" pitchFamily="34" charset="-122"/>
                <a:cs typeface="Lora" pitchFamily="34" charset="-120"/>
              </a:rPr>
              <a:t>no done.”</a:t>
            </a:r>
            <a:endParaRPr lang="en-US" sz="12000" dirty="0"/>
          </a:p>
        </p:txBody>
      </p:sp>
      <p:sp>
        <p:nvSpPr>
          <p:cNvPr id="7" name="Text 4"/>
          <p:cNvSpPr/>
          <p:nvPr/>
        </p:nvSpPr>
        <p:spPr>
          <a:xfrm>
            <a:off x="1143000" y="5907405"/>
            <a:ext cx="6475095" cy="1809750"/>
          </a:xfrm>
          <a:prstGeom prst="rect">
            <a:avLst/>
          </a:prstGeom>
          <a:noFill/>
          <a:ln/>
        </p:spPr>
        <p:txBody>
          <a:bodyPr wrap="square" lIns="25400" tIns="25400" rIns="25400" bIns="25400" rtlCol="0" anchor="t">
            <a:normAutofit/>
          </a:bodyPr>
          <a:lstStyle/>
          <a:p>
            <a:pPr algn="l" indent="0" marL="0">
              <a:lnSpc>
                <a:spcPct val="155000"/>
              </a:lnSpc>
              <a:buNone/>
            </a:pPr>
            <a:r>
              <a:rPr lang="en-US" sz="2250" dirty="0">
                <a:solidFill>
                  <a:srgbClr val="EEECE2">
                    <a:alpha val="75000"/>
                  </a:srgbClr>
                </a:solidFill>
                <a:latin typeface="DM Sans" pitchFamily="34" charset="0"/>
                <a:ea typeface="DM Sans" pitchFamily="34" charset="-122"/>
                <a:cs typeface="DM Sans" pitchFamily="34" charset="-120"/>
              </a:rPr>
              <a:t>Every Sypnose worker must produce a passing test before it can mark a task complete. Vibes do not ship. Promises do not ship. Green tests ship.</a:t>
            </a:r>
            <a:endParaRPr lang="en-US" sz="2250" dirty="0"/>
          </a:p>
        </p:txBody>
      </p:sp>
      <p:sp>
        <p:nvSpPr>
          <p:cNvPr id="8" name="Text 5"/>
          <p:cNvSpPr/>
          <p:nvPr/>
        </p:nvSpPr>
        <p:spPr>
          <a:xfrm>
            <a:off x="8191500" y="5907405"/>
            <a:ext cx="6475095" cy="1809750"/>
          </a:xfrm>
          <a:prstGeom prst="rect">
            <a:avLst/>
          </a:prstGeom>
          <a:noFill/>
          <a:ln/>
        </p:spPr>
        <p:txBody>
          <a:bodyPr wrap="square" lIns="25400" tIns="25400" rIns="25400" bIns="25400" rtlCol="0" anchor="t">
            <a:normAutofit/>
          </a:bodyPr>
          <a:lstStyle/>
          <a:p>
            <a:pPr algn="l" indent="0" marL="0">
              <a:lnSpc>
                <a:spcPct val="155000"/>
              </a:lnSpc>
              <a:buNone/>
            </a:pPr>
            <a:r>
              <a:rPr lang="en-US" sz="2250" dirty="0">
                <a:solidFill>
                  <a:srgbClr val="EEECE2">
                    <a:alpha val="75000"/>
                  </a:srgbClr>
                </a:solidFill>
                <a:latin typeface="DM Sans" pitchFamily="34" charset="0"/>
                <a:ea typeface="DM Sans" pitchFamily="34" charset="-122"/>
                <a:cs typeface="DM Sans" pitchFamily="34" charset="-120"/>
              </a:rPr>
              <a:t>Enforced in the orchestrator, not in a code review process. Impossible to bypass — including by Carlos. Especially by Carlos.</a:t>
            </a:r>
            <a:endParaRPr lang="en-US" sz="2250" dirty="0"/>
          </a:p>
        </p:txBody>
      </p:sp>
      <p:sp>
        <p:nvSpPr>
          <p:cNvPr id="9" name="Text 6"/>
          <p:cNvSpPr/>
          <p:nvPr/>
        </p:nvSpPr>
        <p:spPr>
          <a:xfrm>
            <a:off x="1143000" y="8536305"/>
            <a:ext cx="14716125" cy="312420"/>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EEECE2">
                    <a:alpha val="50000"/>
                  </a:srgbClr>
                </a:solidFill>
                <a:latin typeface="JetBrains Mono" pitchFamily="34" charset="0"/>
                <a:ea typeface="JetBrains Mono" pitchFamily="34" charset="-122"/>
                <a:cs typeface="JetBrains Mono" pitchFamily="34" charset="-120"/>
              </a:rPr>
              <a:t>▌ ENFORCED · ORCHESTRATOR LAYER · SINCE JAN 2026</a:t>
            </a:r>
            <a:endParaRPr lang="en-US" sz="1650" dirty="0"/>
          </a:p>
        </p:txBody>
      </p:sp>
      <p:sp>
        <p:nvSpPr>
          <p:cNvPr id="10" name="Text 7"/>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SYPNOSE.CLOUD</a:t>
            </a:r>
            <a:endParaRPr lang="en-US" sz="1200" dirty="0"/>
          </a:p>
        </p:txBody>
      </p:sp>
      <p:sp>
        <p:nvSpPr>
          <p:cNvPr id="11" name="Text 8"/>
          <p:cNvSpPr/>
          <p:nvPr/>
        </p:nvSpPr>
        <p:spPr>
          <a:xfrm>
            <a:off x="13959840" y="9631680"/>
            <a:ext cx="3673145"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THE ONE RULE WE WILL NOT BREAK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583847" y="502920"/>
            <a:ext cx="303041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06 / 15 · LIVE METRICS</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06 — LIVE METRICS · MAY 2026</a:t>
            </a:r>
            <a:endParaRPr lang="en-US" sz="1500" dirty="0"/>
          </a:p>
        </p:txBody>
      </p:sp>
      <p:sp>
        <p:nvSpPr>
          <p:cNvPr id="6" name="Text 3"/>
          <p:cNvSpPr/>
          <p:nvPr/>
        </p:nvSpPr>
        <p:spPr>
          <a:xfrm>
            <a:off x="1143000" y="2049780"/>
            <a:ext cx="16482060"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The numbers, in Grafana, this morning.</a:t>
            </a:r>
            <a:endParaRPr lang="en-US" sz="9000" dirty="0"/>
          </a:p>
        </p:txBody>
      </p:sp>
      <p:sp>
        <p:nvSpPr>
          <p:cNvPr id="7" name="Shape 4"/>
          <p:cNvSpPr/>
          <p:nvPr/>
        </p:nvSpPr>
        <p:spPr>
          <a:xfrm>
            <a:off x="1143000" y="4815840"/>
            <a:ext cx="3771900" cy="2577465"/>
          </a:xfrm>
          <a:prstGeom prst="roundRect">
            <a:avLst>
              <a:gd name="adj" fmla="val 5174"/>
            </a:avLst>
          </a:prstGeom>
          <a:solidFill>
            <a:srgbClr val="EEECE2"/>
          </a:solidFill>
          <a:ln w="7620">
            <a:solidFill>
              <a:srgbClr val="3D3929">
                <a:alpha val="14000"/>
              </a:srgbClr>
            </a:solidFill>
            <a:prstDash val="solid"/>
          </a:ln>
        </p:spPr>
      </p:sp>
      <p:sp>
        <p:nvSpPr>
          <p:cNvPr id="8" name="Text 5"/>
          <p:cNvSpPr/>
          <p:nvPr/>
        </p:nvSpPr>
        <p:spPr>
          <a:xfrm>
            <a:off x="1455420" y="5166360"/>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MAX PARALLEL WORKERS</a:t>
            </a:r>
            <a:endParaRPr lang="en-US" sz="1200" dirty="0"/>
          </a:p>
        </p:txBody>
      </p:sp>
      <p:sp>
        <p:nvSpPr>
          <p:cNvPr id="9" name="Text 6"/>
          <p:cNvSpPr/>
          <p:nvPr/>
        </p:nvSpPr>
        <p:spPr>
          <a:xfrm>
            <a:off x="1455420" y="5497830"/>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300</a:t>
            </a:r>
            <a:endParaRPr lang="en-US" sz="7200" dirty="0"/>
          </a:p>
        </p:txBody>
      </p:sp>
      <p:sp>
        <p:nvSpPr>
          <p:cNvPr id="10" name="Text 7"/>
          <p:cNvSpPr/>
          <p:nvPr/>
        </p:nvSpPr>
        <p:spPr>
          <a:xfrm>
            <a:off x="1455420" y="6545580"/>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Architect + engineers + reviewer + researcher + memory keeper.</a:t>
            </a:r>
            <a:endParaRPr lang="en-US" sz="1350" dirty="0"/>
          </a:p>
        </p:txBody>
      </p:sp>
      <p:sp>
        <p:nvSpPr>
          <p:cNvPr id="11" name="Shape 8"/>
          <p:cNvSpPr/>
          <p:nvPr/>
        </p:nvSpPr>
        <p:spPr>
          <a:xfrm>
            <a:off x="5219700" y="4815840"/>
            <a:ext cx="3771900" cy="2577465"/>
          </a:xfrm>
          <a:prstGeom prst="roundRect">
            <a:avLst>
              <a:gd name="adj" fmla="val 5174"/>
            </a:avLst>
          </a:prstGeom>
          <a:solidFill>
            <a:srgbClr val="DA7756"/>
          </a:solidFill>
          <a:ln w="7620">
            <a:solidFill>
              <a:srgbClr val="3D3929">
                <a:alpha val="14000"/>
              </a:srgbClr>
            </a:solidFill>
            <a:prstDash val="solid"/>
          </a:ln>
        </p:spPr>
      </p:sp>
      <p:sp>
        <p:nvSpPr>
          <p:cNvPr id="12" name="Text 9"/>
          <p:cNvSpPr/>
          <p:nvPr/>
        </p:nvSpPr>
        <p:spPr>
          <a:xfrm>
            <a:off x="5532120" y="5166360"/>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3D3929"/>
                </a:solidFill>
                <a:latin typeface="JetBrains Mono" pitchFamily="34" charset="0"/>
                <a:ea typeface="JetBrains Mono" pitchFamily="34" charset="-122"/>
                <a:cs typeface="JetBrains Mono" pitchFamily="34" charset="-120"/>
              </a:rPr>
              <a:t>MODELS ROUTED</a:t>
            </a:r>
            <a:endParaRPr lang="en-US" sz="1200" dirty="0"/>
          </a:p>
        </p:txBody>
      </p:sp>
      <p:sp>
        <p:nvSpPr>
          <p:cNvPr id="13" name="Text 10"/>
          <p:cNvSpPr/>
          <p:nvPr/>
        </p:nvSpPr>
        <p:spPr>
          <a:xfrm>
            <a:off x="5532120" y="5497830"/>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47</a:t>
            </a:r>
            <a:endParaRPr lang="en-US" sz="7200" dirty="0"/>
          </a:p>
        </p:txBody>
      </p:sp>
      <p:sp>
        <p:nvSpPr>
          <p:cNvPr id="14" name="Text 11"/>
          <p:cNvSpPr/>
          <p:nvPr/>
        </p:nvSpPr>
        <p:spPr>
          <a:xfrm>
            <a:off x="5532120" y="6545580"/>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2A261B"/>
                </a:solidFill>
                <a:latin typeface="DM Sans" pitchFamily="34" charset="0"/>
                <a:ea typeface="DM Sans" pitchFamily="34" charset="-122"/>
                <a:cs typeface="DM Sans" pitchFamily="34" charset="-120"/>
              </a:rPr>
              <a:t>Claude, GPT, Gemini, Mistral — by cost &amp; capability.</a:t>
            </a:r>
            <a:endParaRPr lang="en-US" sz="1350" dirty="0"/>
          </a:p>
        </p:txBody>
      </p:sp>
      <p:sp>
        <p:nvSpPr>
          <p:cNvPr id="15" name="Shape 12"/>
          <p:cNvSpPr/>
          <p:nvPr/>
        </p:nvSpPr>
        <p:spPr>
          <a:xfrm>
            <a:off x="9296400" y="4815840"/>
            <a:ext cx="3771900" cy="2577465"/>
          </a:xfrm>
          <a:prstGeom prst="roundRect">
            <a:avLst>
              <a:gd name="adj" fmla="val 5174"/>
            </a:avLst>
          </a:prstGeom>
          <a:solidFill>
            <a:srgbClr val="EEECE2"/>
          </a:solidFill>
          <a:ln w="7620">
            <a:solidFill>
              <a:srgbClr val="3D3929">
                <a:alpha val="14000"/>
              </a:srgbClr>
            </a:solidFill>
            <a:prstDash val="solid"/>
          </a:ln>
        </p:spPr>
      </p:sp>
      <p:sp>
        <p:nvSpPr>
          <p:cNvPr id="16" name="Text 13"/>
          <p:cNvSpPr/>
          <p:nvPr/>
        </p:nvSpPr>
        <p:spPr>
          <a:xfrm>
            <a:off x="9608820" y="5166360"/>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AGENT-TO-AGENT LATENCY</a:t>
            </a:r>
            <a:endParaRPr lang="en-US" sz="1200" dirty="0"/>
          </a:p>
        </p:txBody>
      </p:sp>
      <p:sp>
        <p:nvSpPr>
          <p:cNvPr id="17" name="Text 14"/>
          <p:cNvSpPr/>
          <p:nvPr/>
        </p:nvSpPr>
        <p:spPr>
          <a:xfrm>
            <a:off x="9608820" y="5497830"/>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741 </a:t>
            </a:r>
            <a:pPr algn="l" indent="0" marL="0">
              <a:lnSpc>
                <a:spcPct val="100000"/>
              </a:lnSpc>
              <a:buNone/>
            </a:pPr>
            <a:r>
              <a:rPr lang="en-US" sz="2700" b="1" spc="-288" kern="0" dirty="0">
                <a:solidFill>
                  <a:srgbClr val="DA7756"/>
                </a:solidFill>
                <a:latin typeface="Poppins" pitchFamily="34" charset="0"/>
                <a:ea typeface="Poppins" pitchFamily="34" charset="-122"/>
                <a:cs typeface="Poppins" pitchFamily="34" charset="-120"/>
              </a:rPr>
              <a:t>ms</a:t>
            </a:r>
            <a:endParaRPr lang="en-US" sz="7200" dirty="0"/>
          </a:p>
        </p:txBody>
      </p:sp>
      <p:sp>
        <p:nvSpPr>
          <p:cNvPr id="18" name="Text 15"/>
          <p:cNvSpPr/>
          <p:nvPr/>
        </p:nvSpPr>
        <p:spPr>
          <a:xfrm>
            <a:off x="9608820" y="6545580"/>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End-to-end, including memory hydration.</a:t>
            </a:r>
            <a:endParaRPr lang="en-US" sz="1350" dirty="0"/>
          </a:p>
        </p:txBody>
      </p:sp>
      <p:sp>
        <p:nvSpPr>
          <p:cNvPr id="19" name="Shape 16"/>
          <p:cNvSpPr/>
          <p:nvPr/>
        </p:nvSpPr>
        <p:spPr>
          <a:xfrm>
            <a:off x="13373100" y="4815840"/>
            <a:ext cx="3771900" cy="2577465"/>
          </a:xfrm>
          <a:prstGeom prst="roundRect">
            <a:avLst>
              <a:gd name="adj" fmla="val 5174"/>
            </a:avLst>
          </a:prstGeom>
          <a:solidFill>
            <a:srgbClr val="EEECE2"/>
          </a:solidFill>
          <a:ln w="7620">
            <a:solidFill>
              <a:srgbClr val="3D3929">
                <a:alpha val="14000"/>
              </a:srgbClr>
            </a:solidFill>
            <a:prstDash val="solid"/>
          </a:ln>
        </p:spPr>
      </p:sp>
      <p:sp>
        <p:nvSpPr>
          <p:cNvPr id="20" name="Text 17"/>
          <p:cNvSpPr/>
          <p:nvPr/>
        </p:nvSpPr>
        <p:spPr>
          <a:xfrm>
            <a:off x="13685520" y="5166360"/>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FIRST-PASS REVIEW RATE</a:t>
            </a:r>
            <a:endParaRPr lang="en-US" sz="1200" dirty="0"/>
          </a:p>
        </p:txBody>
      </p:sp>
      <p:sp>
        <p:nvSpPr>
          <p:cNvPr id="21" name="Text 18"/>
          <p:cNvSpPr/>
          <p:nvPr/>
        </p:nvSpPr>
        <p:spPr>
          <a:xfrm>
            <a:off x="13685520" y="5497830"/>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93 </a:t>
            </a:r>
            <a:pPr algn="l" indent="0" marL="0">
              <a:lnSpc>
                <a:spcPct val="100000"/>
              </a:lnSpc>
              <a:buNone/>
            </a:pPr>
            <a:r>
              <a:rPr lang="en-US" sz="2700" b="1" spc="-288" kern="0" dirty="0">
                <a:solidFill>
                  <a:srgbClr val="DA7756"/>
                </a:solidFill>
                <a:latin typeface="Poppins" pitchFamily="34" charset="0"/>
                <a:ea typeface="Poppins" pitchFamily="34" charset="-122"/>
                <a:cs typeface="Poppins" pitchFamily="34" charset="-120"/>
              </a:rPr>
              <a:t>%</a:t>
            </a:r>
            <a:endParaRPr lang="en-US" sz="7200" dirty="0"/>
          </a:p>
        </p:txBody>
      </p:sp>
      <p:sp>
        <p:nvSpPr>
          <p:cNvPr id="22" name="Text 19"/>
          <p:cNvSpPr/>
          <p:nvPr/>
        </p:nvSpPr>
        <p:spPr>
          <a:xfrm>
            <a:off x="13685520" y="6545580"/>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PRs that pass on the first reviewer attempt.</a:t>
            </a:r>
            <a:endParaRPr lang="en-US" sz="1350" dirty="0"/>
          </a:p>
        </p:txBody>
      </p:sp>
      <p:sp>
        <p:nvSpPr>
          <p:cNvPr id="23" name="Shape 20"/>
          <p:cNvSpPr/>
          <p:nvPr/>
        </p:nvSpPr>
        <p:spPr>
          <a:xfrm>
            <a:off x="1143000" y="7698105"/>
            <a:ext cx="3771900" cy="2577465"/>
          </a:xfrm>
          <a:prstGeom prst="roundRect">
            <a:avLst>
              <a:gd name="adj" fmla="val 5174"/>
            </a:avLst>
          </a:prstGeom>
          <a:solidFill>
            <a:srgbClr val="EEECE2"/>
          </a:solidFill>
          <a:ln w="7620">
            <a:solidFill>
              <a:srgbClr val="3D3929">
                <a:alpha val="14000"/>
              </a:srgbClr>
            </a:solidFill>
            <a:prstDash val="solid"/>
          </a:ln>
        </p:spPr>
      </p:sp>
      <p:sp>
        <p:nvSpPr>
          <p:cNvPr id="24" name="Text 21"/>
          <p:cNvSpPr/>
          <p:nvPr/>
        </p:nvSpPr>
        <p:spPr>
          <a:xfrm>
            <a:off x="1455420" y="8048625"/>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FREE-TIER COMPUTE</a:t>
            </a:r>
            <a:endParaRPr lang="en-US" sz="1200" dirty="0"/>
          </a:p>
        </p:txBody>
      </p:sp>
      <p:sp>
        <p:nvSpPr>
          <p:cNvPr id="25" name="Text 22"/>
          <p:cNvSpPr/>
          <p:nvPr/>
        </p:nvSpPr>
        <p:spPr>
          <a:xfrm>
            <a:off x="1455420" y="8380095"/>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95 </a:t>
            </a:r>
            <a:pPr algn="l" indent="0" marL="0">
              <a:lnSpc>
                <a:spcPct val="100000"/>
              </a:lnSpc>
              <a:buNone/>
            </a:pPr>
            <a:r>
              <a:rPr lang="en-US" sz="2700" b="1" spc="-288" kern="0" dirty="0">
                <a:solidFill>
                  <a:srgbClr val="DA7756"/>
                </a:solidFill>
                <a:latin typeface="Poppins" pitchFamily="34" charset="0"/>
                <a:ea typeface="Poppins" pitchFamily="34" charset="-122"/>
                <a:cs typeface="Poppins" pitchFamily="34" charset="-120"/>
              </a:rPr>
              <a:t>%</a:t>
            </a:r>
            <a:endParaRPr lang="en-US" sz="7200" dirty="0"/>
          </a:p>
        </p:txBody>
      </p:sp>
      <p:sp>
        <p:nvSpPr>
          <p:cNvPr id="26" name="Text 23"/>
          <p:cNvSpPr/>
          <p:nvPr/>
        </p:nvSpPr>
        <p:spPr>
          <a:xfrm>
            <a:off x="1455420" y="9427845"/>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Across 11 providers. Paid only when needed.</a:t>
            </a:r>
            <a:endParaRPr lang="en-US" sz="1350" dirty="0"/>
          </a:p>
        </p:txBody>
      </p:sp>
      <p:sp>
        <p:nvSpPr>
          <p:cNvPr id="27" name="Shape 24"/>
          <p:cNvSpPr/>
          <p:nvPr/>
        </p:nvSpPr>
        <p:spPr>
          <a:xfrm>
            <a:off x="5219700" y="7698105"/>
            <a:ext cx="3771900" cy="2577465"/>
          </a:xfrm>
          <a:prstGeom prst="roundRect">
            <a:avLst>
              <a:gd name="adj" fmla="val 5174"/>
            </a:avLst>
          </a:prstGeom>
          <a:solidFill>
            <a:srgbClr val="EEECE2"/>
          </a:solidFill>
          <a:ln w="7620">
            <a:solidFill>
              <a:srgbClr val="3D3929">
                <a:alpha val="14000"/>
              </a:srgbClr>
            </a:solidFill>
            <a:prstDash val="solid"/>
          </a:ln>
        </p:spPr>
      </p:sp>
      <p:sp>
        <p:nvSpPr>
          <p:cNvPr id="28" name="Text 25"/>
          <p:cNvSpPr/>
          <p:nvPr/>
        </p:nvSpPr>
        <p:spPr>
          <a:xfrm>
            <a:off x="5532120" y="8048625"/>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MEMORY HORIZON</a:t>
            </a:r>
            <a:endParaRPr lang="en-US" sz="1200" dirty="0"/>
          </a:p>
        </p:txBody>
      </p:sp>
      <p:sp>
        <p:nvSpPr>
          <p:cNvPr id="29" name="Text 26"/>
          <p:cNvSpPr/>
          <p:nvPr/>
        </p:nvSpPr>
        <p:spPr>
          <a:xfrm>
            <a:off x="5532120" y="8380095"/>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4 </a:t>
            </a:r>
            <a:pPr algn="l" indent="0" marL="0">
              <a:lnSpc>
                <a:spcPct val="100000"/>
              </a:lnSpc>
              <a:buNone/>
            </a:pPr>
            <a:r>
              <a:rPr lang="en-US" sz="2700" b="1" spc="-288" kern="0" dirty="0">
                <a:solidFill>
                  <a:srgbClr val="DA7756"/>
                </a:solidFill>
                <a:latin typeface="Poppins" pitchFamily="34" charset="0"/>
                <a:ea typeface="Poppins" pitchFamily="34" charset="-122"/>
                <a:cs typeface="Poppins" pitchFamily="34" charset="-120"/>
              </a:rPr>
              <a:t>yr</a:t>
            </a:r>
            <a:endParaRPr lang="en-US" sz="7200" dirty="0"/>
          </a:p>
        </p:txBody>
      </p:sp>
      <p:sp>
        <p:nvSpPr>
          <p:cNvPr id="30" name="Text 27"/>
          <p:cNvSpPr/>
          <p:nvPr/>
        </p:nvSpPr>
        <p:spPr>
          <a:xfrm>
            <a:off x="5532120" y="9427845"/>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Indexed at pgvector. Searchable. Auditable.</a:t>
            </a:r>
            <a:endParaRPr lang="en-US" sz="1350" dirty="0"/>
          </a:p>
        </p:txBody>
      </p:sp>
      <p:sp>
        <p:nvSpPr>
          <p:cNvPr id="31" name="Shape 28"/>
          <p:cNvSpPr/>
          <p:nvPr/>
        </p:nvSpPr>
        <p:spPr>
          <a:xfrm>
            <a:off x="9296400" y="7698105"/>
            <a:ext cx="3771900" cy="2577465"/>
          </a:xfrm>
          <a:prstGeom prst="roundRect">
            <a:avLst>
              <a:gd name="adj" fmla="val 5174"/>
            </a:avLst>
          </a:prstGeom>
          <a:solidFill>
            <a:srgbClr val="EEECE2"/>
          </a:solidFill>
          <a:ln w="7620">
            <a:solidFill>
              <a:srgbClr val="3D3929">
                <a:alpha val="14000"/>
              </a:srgbClr>
            </a:solidFill>
            <a:prstDash val="solid"/>
          </a:ln>
        </p:spPr>
      </p:sp>
      <p:sp>
        <p:nvSpPr>
          <p:cNvPr id="32" name="Text 29"/>
          <p:cNvSpPr/>
          <p:nvPr/>
        </p:nvSpPr>
        <p:spPr>
          <a:xfrm>
            <a:off x="9608820" y="8048625"/>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KNOWLEDGE ENTRIES</a:t>
            </a:r>
            <a:endParaRPr lang="en-US" sz="1200" dirty="0"/>
          </a:p>
        </p:txBody>
      </p:sp>
      <p:sp>
        <p:nvSpPr>
          <p:cNvPr id="33" name="Text 30"/>
          <p:cNvSpPr/>
          <p:nvPr/>
        </p:nvSpPr>
        <p:spPr>
          <a:xfrm>
            <a:off x="9608820" y="8380095"/>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1.7 </a:t>
            </a:r>
            <a:pPr algn="l" indent="0" marL="0">
              <a:lnSpc>
                <a:spcPct val="100000"/>
              </a:lnSpc>
              <a:buNone/>
            </a:pPr>
            <a:r>
              <a:rPr lang="en-US" sz="2700" b="1" spc="-288" kern="0" dirty="0">
                <a:solidFill>
                  <a:srgbClr val="DA7756"/>
                </a:solidFill>
                <a:latin typeface="Poppins" pitchFamily="34" charset="0"/>
                <a:ea typeface="Poppins" pitchFamily="34" charset="-122"/>
                <a:cs typeface="Poppins" pitchFamily="34" charset="-120"/>
              </a:rPr>
              <a:t>K</a:t>
            </a:r>
            <a:endParaRPr lang="en-US" sz="7200" dirty="0"/>
          </a:p>
        </p:txBody>
      </p:sp>
      <p:sp>
        <p:nvSpPr>
          <p:cNvPr id="34" name="Text 31"/>
          <p:cNvSpPr/>
          <p:nvPr/>
        </p:nvSpPr>
        <p:spPr>
          <a:xfrm>
            <a:off x="9608820" y="9676448"/>
            <a:ext cx="3241472" cy="28670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1,708 — checked into project memory.</a:t>
            </a:r>
            <a:endParaRPr lang="en-US" sz="1350" dirty="0"/>
          </a:p>
        </p:txBody>
      </p:sp>
      <p:sp>
        <p:nvSpPr>
          <p:cNvPr id="35" name="Shape 32"/>
          <p:cNvSpPr/>
          <p:nvPr/>
        </p:nvSpPr>
        <p:spPr>
          <a:xfrm>
            <a:off x="13373100" y="7698105"/>
            <a:ext cx="3771900" cy="2577465"/>
          </a:xfrm>
          <a:prstGeom prst="roundRect">
            <a:avLst>
              <a:gd name="adj" fmla="val 5174"/>
            </a:avLst>
          </a:prstGeom>
          <a:solidFill>
            <a:srgbClr val="EEECE2"/>
          </a:solidFill>
          <a:ln w="7620">
            <a:solidFill>
              <a:srgbClr val="3D3929">
                <a:alpha val="14000"/>
              </a:srgbClr>
            </a:solidFill>
            <a:prstDash val="solid"/>
          </a:ln>
        </p:spPr>
      </p:sp>
      <p:sp>
        <p:nvSpPr>
          <p:cNvPr id="36" name="Text 33"/>
          <p:cNvSpPr/>
          <p:nvPr/>
        </p:nvSpPr>
        <p:spPr>
          <a:xfrm>
            <a:off x="13685520" y="8048625"/>
            <a:ext cx="3241472" cy="23622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B85F3F"/>
                </a:solidFill>
                <a:latin typeface="JetBrains Mono" pitchFamily="34" charset="0"/>
                <a:ea typeface="JetBrains Mono" pitchFamily="34" charset="-122"/>
                <a:cs typeface="JetBrains Mono" pitchFamily="34" charset="-120"/>
              </a:rPr>
              <a:t>ACTIVE PROJECTS</a:t>
            </a:r>
            <a:endParaRPr lang="en-US" sz="1200" dirty="0"/>
          </a:p>
        </p:txBody>
      </p:sp>
      <p:sp>
        <p:nvSpPr>
          <p:cNvPr id="37" name="Text 34"/>
          <p:cNvSpPr/>
          <p:nvPr/>
        </p:nvSpPr>
        <p:spPr>
          <a:xfrm>
            <a:off x="13685520" y="8380095"/>
            <a:ext cx="324147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88" kern="0" dirty="0">
                <a:solidFill>
                  <a:srgbClr val="3D3929"/>
                </a:solidFill>
                <a:latin typeface="Poppins" pitchFamily="34" charset="0"/>
                <a:ea typeface="Poppins" pitchFamily="34" charset="-122"/>
                <a:cs typeface="Poppins" pitchFamily="34" charset="-120"/>
              </a:rPr>
              <a:t>43</a:t>
            </a:r>
            <a:endParaRPr lang="en-US" sz="7200" dirty="0"/>
          </a:p>
        </p:txBody>
      </p:sp>
      <p:sp>
        <p:nvSpPr>
          <p:cNvPr id="38" name="Text 35"/>
          <p:cNvSpPr/>
          <p:nvPr/>
        </p:nvSpPr>
        <p:spPr>
          <a:xfrm>
            <a:off x="13685520" y="9427845"/>
            <a:ext cx="3241472"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Internal + Business tier customers, May 2026.</a:t>
            </a:r>
            <a:endParaRPr lang="en-US" sz="1350" dirty="0"/>
          </a:p>
        </p:txBody>
      </p:sp>
      <p:sp>
        <p:nvSpPr>
          <p:cNvPr id="39" name="Text 36"/>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40" name="Text 37"/>
          <p:cNvSpPr/>
          <p:nvPr/>
        </p:nvSpPr>
        <p:spPr>
          <a:xfrm>
            <a:off x="12295584" y="9631680"/>
            <a:ext cx="5387328"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EVERY NUMBER IS LIVE · ASK FOR THE DASHBOARD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450140" y="502920"/>
            <a:ext cx="3168137"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07 / 15 · IN PRODUCTION</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07 — FIVE PRODUCTS IN PRODUCTION</a:t>
            </a:r>
            <a:endParaRPr lang="en-US" sz="1500" dirty="0"/>
          </a:p>
        </p:txBody>
      </p:sp>
      <p:sp>
        <p:nvSpPr>
          <p:cNvPr id="6" name="Text 3"/>
          <p:cNvSpPr/>
          <p:nvPr/>
        </p:nvSpPr>
        <p:spPr>
          <a:xfrm>
            <a:off x="1143000" y="2049780"/>
            <a:ext cx="16482060"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We use what we sell.</a:t>
            </a:r>
            <a:endParaRPr lang="en-US" sz="9000" dirty="0"/>
          </a:p>
        </p:txBody>
      </p:sp>
      <p:sp>
        <p:nvSpPr>
          <p:cNvPr id="7" name="Shape 4"/>
          <p:cNvSpPr/>
          <p:nvPr/>
        </p:nvSpPr>
        <p:spPr>
          <a:xfrm>
            <a:off x="1143000" y="4701540"/>
            <a:ext cx="4873228" cy="3355658"/>
          </a:xfrm>
          <a:prstGeom prst="roundRect">
            <a:avLst>
              <a:gd name="adj" fmla="val 3974"/>
            </a:avLst>
          </a:prstGeom>
          <a:solidFill>
            <a:srgbClr val="3D3929"/>
          </a:solidFill>
          <a:ln w="7620">
            <a:solidFill>
              <a:srgbClr val="3D3929">
                <a:alpha val="14000"/>
              </a:srgbClr>
            </a:solidFill>
            <a:prstDash val="solid"/>
          </a:ln>
        </p:spPr>
      </p:sp>
      <p:sp>
        <p:nvSpPr>
          <p:cNvPr id="8" name="Text 5"/>
          <p:cNvSpPr/>
          <p:nvPr/>
        </p:nvSpPr>
        <p:spPr>
          <a:xfrm>
            <a:off x="1379220" y="4975860"/>
            <a:ext cx="4532812"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DA7756"/>
                </a:solidFill>
                <a:latin typeface="JetBrains Mono" pitchFamily="34" charset="0"/>
                <a:ea typeface="JetBrains Mono" pitchFamily="34" charset="-122"/>
                <a:cs typeface="JetBrains Mono" pitchFamily="34" charset="-120"/>
              </a:rPr>
              <a:t>▌ FLAGSHIP · LIVE</a:t>
            </a:r>
            <a:endParaRPr lang="en-US" sz="1050" dirty="0"/>
          </a:p>
        </p:txBody>
      </p:sp>
      <p:sp>
        <p:nvSpPr>
          <p:cNvPr id="9" name="Text 6"/>
          <p:cNvSpPr/>
          <p:nvPr/>
        </p:nvSpPr>
        <p:spPr>
          <a:xfrm>
            <a:off x="1379220" y="5227320"/>
            <a:ext cx="4532812" cy="723900"/>
          </a:xfrm>
          <a:prstGeom prst="rect">
            <a:avLst/>
          </a:prstGeom>
          <a:noFill/>
          <a:ln/>
        </p:spPr>
        <p:txBody>
          <a:bodyPr wrap="square" lIns="25400" tIns="25400" rIns="25400" bIns="25400" rtlCol="0" anchor="t">
            <a:normAutofit/>
          </a:bodyPr>
          <a:lstStyle/>
          <a:p>
            <a:pPr algn="l" indent="0" marL="0">
              <a:buNone/>
            </a:pPr>
            <a:r>
              <a:rPr lang="en-US" sz="3600" b="1" spc="-54" kern="0" dirty="0">
                <a:solidFill>
                  <a:srgbClr val="EEECE2"/>
                </a:solidFill>
                <a:latin typeface="Poppins" pitchFamily="34" charset="0"/>
                <a:ea typeface="Poppins" pitchFamily="34" charset="-122"/>
                <a:cs typeface="Poppins" pitchFamily="34" charset="-120"/>
              </a:rPr>
              <a:t>GestoriaRD</a:t>
            </a:r>
            <a:endParaRPr lang="en-US" sz="3600" dirty="0"/>
          </a:p>
        </p:txBody>
      </p:sp>
      <p:sp>
        <p:nvSpPr>
          <p:cNvPr id="10" name="Text 7"/>
          <p:cNvSpPr/>
          <p:nvPr/>
        </p:nvSpPr>
        <p:spPr>
          <a:xfrm>
            <a:off x="1379220" y="6027420"/>
            <a:ext cx="4532812"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EEECE2">
                    <a:alpha val="70000"/>
                  </a:srgbClr>
                </a:solidFill>
                <a:latin typeface="DM Sans" pitchFamily="34" charset="0"/>
                <a:ea typeface="DM Sans" pitchFamily="34" charset="-122"/>
                <a:cs typeface="DM Sans" pitchFamily="34" charset="-120"/>
              </a:rPr>
              <a:t>Tax filing &amp; corporate compliance platform for Dominican SMEs. Built entirely by Sypnose workers, reviewed by Sypnose.</a:t>
            </a:r>
            <a:endParaRPr lang="en-US" sz="1350" dirty="0"/>
          </a:p>
        </p:txBody>
      </p:sp>
      <p:sp>
        <p:nvSpPr>
          <p:cNvPr id="11" name="Text 8"/>
          <p:cNvSpPr/>
          <p:nvPr/>
        </p:nvSpPr>
        <p:spPr>
          <a:xfrm>
            <a:off x="1379220" y="7020878"/>
            <a:ext cx="1293971"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spc="-120" kern="0" dirty="0">
                <a:solidFill>
                  <a:srgbClr val="DA7756"/>
                </a:solidFill>
                <a:latin typeface="Poppins" pitchFamily="34" charset="0"/>
                <a:ea typeface="Poppins" pitchFamily="34" charset="-122"/>
                <a:cs typeface="Poppins" pitchFamily="34" charset="-120"/>
              </a:rPr>
              <a:t>314</a:t>
            </a:r>
            <a:endParaRPr lang="en-US" sz="6000" dirty="0"/>
          </a:p>
        </p:txBody>
      </p:sp>
      <p:sp>
        <p:nvSpPr>
          <p:cNvPr id="12" name="Text 9"/>
          <p:cNvSpPr/>
          <p:nvPr/>
        </p:nvSpPr>
        <p:spPr>
          <a:xfrm>
            <a:off x="2673191" y="7531418"/>
            <a:ext cx="1396365"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8A8472"/>
                </a:solidFill>
                <a:latin typeface="JetBrains Mono" pitchFamily="34" charset="0"/>
                <a:ea typeface="JetBrains Mono" pitchFamily="34" charset="-122"/>
                <a:cs typeface="JetBrains Mono" pitchFamily="34" charset="-120"/>
              </a:rPr>
              <a:t>PAYING CLIENTS</a:t>
            </a:r>
            <a:endParaRPr lang="en-US" sz="1050" dirty="0"/>
          </a:p>
        </p:txBody>
      </p:sp>
      <p:sp>
        <p:nvSpPr>
          <p:cNvPr id="13" name="Shape 10"/>
          <p:cNvSpPr/>
          <p:nvPr/>
        </p:nvSpPr>
        <p:spPr>
          <a:xfrm>
            <a:off x="6244828" y="4701540"/>
            <a:ext cx="3481030" cy="3355658"/>
          </a:xfrm>
          <a:prstGeom prst="roundRect">
            <a:avLst>
              <a:gd name="adj" fmla="val 3974"/>
            </a:avLst>
          </a:prstGeom>
          <a:solidFill>
            <a:srgbClr val="EEECE2"/>
          </a:solidFill>
          <a:ln w="7620">
            <a:solidFill>
              <a:srgbClr val="3D3929">
                <a:alpha val="14000"/>
              </a:srgbClr>
            </a:solidFill>
            <a:prstDash val="solid"/>
          </a:ln>
        </p:spPr>
      </p:sp>
      <p:sp>
        <p:nvSpPr>
          <p:cNvPr id="14" name="Text 11"/>
          <p:cNvSpPr/>
          <p:nvPr/>
        </p:nvSpPr>
        <p:spPr>
          <a:xfrm>
            <a:off x="6481048" y="4975860"/>
            <a:ext cx="3098848"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B85F3F"/>
                </a:solidFill>
                <a:latin typeface="JetBrains Mono" pitchFamily="34" charset="0"/>
                <a:ea typeface="JetBrains Mono" pitchFamily="34" charset="-122"/>
                <a:cs typeface="JetBrains Mono" pitchFamily="34" charset="-120"/>
              </a:rPr>
              <a:t>▌ LIVE</a:t>
            </a:r>
            <a:endParaRPr lang="en-US" sz="1050" dirty="0"/>
          </a:p>
        </p:txBody>
      </p:sp>
      <p:sp>
        <p:nvSpPr>
          <p:cNvPr id="15" name="Text 12"/>
          <p:cNvSpPr/>
          <p:nvPr/>
        </p:nvSpPr>
        <p:spPr>
          <a:xfrm>
            <a:off x="6481048" y="5227320"/>
            <a:ext cx="3098848" cy="556260"/>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3D3929"/>
                </a:solidFill>
                <a:latin typeface="Poppins" pitchFamily="34" charset="0"/>
                <a:ea typeface="Poppins" pitchFamily="34" charset="-122"/>
                <a:cs typeface="Poppins" pitchFamily="34" charset="-120"/>
              </a:rPr>
              <a:t>FacturaIA</a:t>
            </a:r>
            <a:endParaRPr lang="en-US" sz="2700" dirty="0"/>
          </a:p>
        </p:txBody>
      </p:sp>
      <p:sp>
        <p:nvSpPr>
          <p:cNvPr id="16" name="Text 13"/>
          <p:cNvSpPr/>
          <p:nvPr/>
        </p:nvSpPr>
        <p:spPr>
          <a:xfrm>
            <a:off x="6481048" y="5859780"/>
            <a:ext cx="3098848"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Invoice OCR + ledger reconciliation. Postgres + pgvector under the hood.</a:t>
            </a:r>
            <a:endParaRPr lang="en-US" sz="1350" dirty="0"/>
          </a:p>
        </p:txBody>
      </p:sp>
      <p:sp>
        <p:nvSpPr>
          <p:cNvPr id="17" name="Text 14"/>
          <p:cNvSpPr/>
          <p:nvPr/>
        </p:nvSpPr>
        <p:spPr>
          <a:xfrm>
            <a:off x="6481048" y="7268528"/>
            <a:ext cx="1203246"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81" kern="0" dirty="0">
                <a:solidFill>
                  <a:srgbClr val="DA7756"/>
                </a:solidFill>
                <a:latin typeface="Poppins" pitchFamily="34" charset="0"/>
                <a:ea typeface="Poppins" pitchFamily="34" charset="-122"/>
                <a:cs typeface="Poppins" pitchFamily="34" charset="-120"/>
              </a:rPr>
              <a:t>9.4K</a:t>
            </a:r>
            <a:endParaRPr lang="en-US" sz="4050" dirty="0"/>
          </a:p>
        </p:txBody>
      </p:sp>
      <p:sp>
        <p:nvSpPr>
          <p:cNvPr id="18" name="Text 15"/>
          <p:cNvSpPr/>
          <p:nvPr/>
        </p:nvSpPr>
        <p:spPr>
          <a:xfrm>
            <a:off x="7684294" y="7565707"/>
            <a:ext cx="1584960"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8A8472"/>
                </a:solidFill>
                <a:latin typeface="JetBrains Mono" pitchFamily="34" charset="0"/>
                <a:ea typeface="JetBrains Mono" pitchFamily="34" charset="-122"/>
                <a:cs typeface="JetBrains Mono" pitchFamily="34" charset="-120"/>
              </a:rPr>
              <a:t>INVOICES · MONTH</a:t>
            </a:r>
            <a:endParaRPr lang="en-US" sz="1050" dirty="0"/>
          </a:p>
        </p:txBody>
      </p:sp>
      <p:sp>
        <p:nvSpPr>
          <p:cNvPr id="19" name="Shape 16"/>
          <p:cNvSpPr/>
          <p:nvPr/>
        </p:nvSpPr>
        <p:spPr>
          <a:xfrm>
            <a:off x="9954459" y="4701540"/>
            <a:ext cx="3480911" cy="3355658"/>
          </a:xfrm>
          <a:prstGeom prst="roundRect">
            <a:avLst>
              <a:gd name="adj" fmla="val 3974"/>
            </a:avLst>
          </a:prstGeom>
          <a:solidFill>
            <a:srgbClr val="EEECE2"/>
          </a:solidFill>
          <a:ln w="7620">
            <a:solidFill>
              <a:srgbClr val="3D3929">
                <a:alpha val="14000"/>
              </a:srgbClr>
            </a:solidFill>
            <a:prstDash val="solid"/>
          </a:ln>
        </p:spPr>
      </p:sp>
      <p:sp>
        <p:nvSpPr>
          <p:cNvPr id="20" name="Text 17"/>
          <p:cNvSpPr/>
          <p:nvPr/>
        </p:nvSpPr>
        <p:spPr>
          <a:xfrm>
            <a:off x="10190679" y="4975860"/>
            <a:ext cx="3098725"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B85F3F"/>
                </a:solidFill>
                <a:latin typeface="JetBrains Mono" pitchFamily="34" charset="0"/>
                <a:ea typeface="JetBrains Mono" pitchFamily="34" charset="-122"/>
                <a:cs typeface="JetBrains Mono" pitchFamily="34" charset="-120"/>
              </a:rPr>
              <a:t>▌ LIVE</a:t>
            </a:r>
            <a:endParaRPr lang="en-US" sz="1050" dirty="0"/>
          </a:p>
        </p:txBody>
      </p:sp>
      <p:sp>
        <p:nvSpPr>
          <p:cNvPr id="21" name="Text 18"/>
          <p:cNvSpPr/>
          <p:nvPr/>
        </p:nvSpPr>
        <p:spPr>
          <a:xfrm>
            <a:off x="10190679" y="5227320"/>
            <a:ext cx="3098725" cy="556260"/>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3D3929"/>
                </a:solidFill>
                <a:latin typeface="Poppins" pitchFamily="34" charset="0"/>
                <a:ea typeface="Poppins" pitchFamily="34" charset="-122"/>
                <a:cs typeface="Poppins" pitchFamily="34" charset="-120"/>
              </a:rPr>
              <a:t>HUYGHU Portal</a:t>
            </a:r>
            <a:endParaRPr lang="en-US" sz="2700" dirty="0"/>
          </a:p>
        </p:txBody>
      </p:sp>
      <p:sp>
        <p:nvSpPr>
          <p:cNvPr id="22" name="Text 19"/>
          <p:cNvSpPr/>
          <p:nvPr/>
        </p:nvSpPr>
        <p:spPr>
          <a:xfrm>
            <a:off x="10190679" y="5859780"/>
            <a:ext cx="3098725" cy="783908"/>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Client portal for HUYGHU &amp; Asociados. Document vault, e-signing, audit log.</a:t>
            </a:r>
            <a:endParaRPr lang="en-US" sz="1350" dirty="0"/>
          </a:p>
        </p:txBody>
      </p:sp>
      <p:sp>
        <p:nvSpPr>
          <p:cNvPr id="23" name="Text 20"/>
          <p:cNvSpPr/>
          <p:nvPr/>
        </p:nvSpPr>
        <p:spPr>
          <a:xfrm>
            <a:off x="10190679" y="7268528"/>
            <a:ext cx="729972"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81" kern="0" dirty="0">
                <a:solidFill>
                  <a:srgbClr val="DA7756"/>
                </a:solidFill>
                <a:latin typeface="Poppins" pitchFamily="34" charset="0"/>
                <a:ea typeface="Poppins" pitchFamily="34" charset="-122"/>
                <a:cs typeface="Poppins" pitchFamily="34" charset="-120"/>
              </a:rPr>
              <a:t>6h</a:t>
            </a:r>
            <a:endParaRPr lang="en-US" sz="4050" dirty="0"/>
          </a:p>
        </p:txBody>
      </p:sp>
      <p:sp>
        <p:nvSpPr>
          <p:cNvPr id="24" name="Text 21"/>
          <p:cNvSpPr/>
          <p:nvPr/>
        </p:nvSpPr>
        <p:spPr>
          <a:xfrm>
            <a:off x="10920651" y="7565707"/>
            <a:ext cx="1679258"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8A8472"/>
                </a:solidFill>
                <a:latin typeface="JetBrains Mono" pitchFamily="34" charset="0"/>
                <a:ea typeface="JetBrains Mono" pitchFamily="34" charset="-122"/>
                <a:cs typeface="JetBrains Mono" pitchFamily="34" charset="-120"/>
              </a:rPr>
              <a:t>BRAND KIT · BUILT</a:t>
            </a:r>
            <a:endParaRPr lang="en-US" sz="1050" dirty="0"/>
          </a:p>
        </p:txBody>
      </p:sp>
      <p:sp>
        <p:nvSpPr>
          <p:cNvPr id="25" name="Shape 22"/>
          <p:cNvSpPr/>
          <p:nvPr/>
        </p:nvSpPr>
        <p:spPr>
          <a:xfrm>
            <a:off x="13663969" y="4701540"/>
            <a:ext cx="3480911" cy="3355658"/>
          </a:xfrm>
          <a:prstGeom prst="roundRect">
            <a:avLst>
              <a:gd name="adj" fmla="val 3974"/>
            </a:avLst>
          </a:prstGeom>
          <a:solidFill>
            <a:srgbClr val="EEECE2"/>
          </a:solidFill>
          <a:ln w="7620">
            <a:solidFill>
              <a:srgbClr val="3D3929">
                <a:alpha val="14000"/>
              </a:srgbClr>
            </a:solidFill>
            <a:prstDash val="solid"/>
          </a:ln>
        </p:spPr>
      </p:sp>
      <p:sp>
        <p:nvSpPr>
          <p:cNvPr id="26" name="Text 23"/>
          <p:cNvSpPr/>
          <p:nvPr/>
        </p:nvSpPr>
        <p:spPr>
          <a:xfrm>
            <a:off x="13900190" y="4975860"/>
            <a:ext cx="3098725"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B85F3F"/>
                </a:solidFill>
                <a:latin typeface="JetBrains Mono" pitchFamily="34" charset="0"/>
                <a:ea typeface="JetBrains Mono" pitchFamily="34" charset="-122"/>
                <a:cs typeface="JetBrains Mono" pitchFamily="34" charset="-120"/>
              </a:rPr>
              <a:t>▌ LIVE</a:t>
            </a:r>
            <a:endParaRPr lang="en-US" sz="1050" dirty="0"/>
          </a:p>
        </p:txBody>
      </p:sp>
      <p:sp>
        <p:nvSpPr>
          <p:cNvPr id="27" name="Text 24"/>
          <p:cNvSpPr/>
          <p:nvPr/>
        </p:nvSpPr>
        <p:spPr>
          <a:xfrm>
            <a:off x="13900190" y="5227320"/>
            <a:ext cx="3098725" cy="1074420"/>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3D3929"/>
                </a:solidFill>
                <a:latin typeface="Poppins" pitchFamily="34" charset="0"/>
                <a:ea typeface="Poppins" pitchFamily="34" charset="-122"/>
                <a:cs typeface="Poppins" pitchFamily="34" charset="-120"/>
              </a:rPr>
              <a:t>Stratos &amp; Mithos Console</a:t>
            </a:r>
            <a:endParaRPr lang="en-US" sz="2700" dirty="0"/>
          </a:p>
        </p:txBody>
      </p:sp>
      <p:sp>
        <p:nvSpPr>
          <p:cNvPr id="28" name="Text 25"/>
          <p:cNvSpPr/>
          <p:nvPr/>
        </p:nvSpPr>
        <p:spPr>
          <a:xfrm>
            <a:off x="13900190" y="6377940"/>
            <a:ext cx="3098725" cy="535305"/>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5A5443"/>
                </a:solidFill>
                <a:latin typeface="DM Sans" pitchFamily="34" charset="0"/>
                <a:ea typeface="DM Sans" pitchFamily="34" charset="-122"/>
                <a:cs typeface="DM Sans" pitchFamily="34" charset="-120"/>
              </a:rPr>
              <a:t>Trading dashboard + internal Sypnose console. Cloudflare Access in front.</a:t>
            </a:r>
            <a:endParaRPr lang="en-US" sz="1350" dirty="0"/>
          </a:p>
        </p:txBody>
      </p:sp>
      <p:sp>
        <p:nvSpPr>
          <p:cNvPr id="29" name="Text 26"/>
          <p:cNvSpPr/>
          <p:nvPr/>
        </p:nvSpPr>
        <p:spPr>
          <a:xfrm>
            <a:off x="13900190" y="7268528"/>
            <a:ext cx="960953"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81" kern="0" dirty="0">
                <a:solidFill>
                  <a:srgbClr val="DA7756"/>
                </a:solidFill>
                <a:latin typeface="Poppins" pitchFamily="34" charset="0"/>
                <a:ea typeface="Poppins" pitchFamily="34" charset="-122"/>
                <a:cs typeface="Poppins" pitchFamily="34" charset="-120"/>
              </a:rPr>
              <a:t>27h</a:t>
            </a:r>
            <a:endParaRPr lang="en-US" sz="4050" dirty="0"/>
          </a:p>
        </p:txBody>
      </p:sp>
      <p:sp>
        <p:nvSpPr>
          <p:cNvPr id="30" name="Text 27"/>
          <p:cNvSpPr/>
          <p:nvPr/>
        </p:nvSpPr>
        <p:spPr>
          <a:xfrm>
            <a:off x="14861143" y="7565707"/>
            <a:ext cx="1679258"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8A8472"/>
                </a:solidFill>
                <a:latin typeface="JetBrains Mono" pitchFamily="34" charset="0"/>
                <a:ea typeface="JetBrains Mono" pitchFamily="34" charset="-122"/>
                <a:cs typeface="JetBrains Mono" pitchFamily="34" charset="-120"/>
              </a:rPr>
              <a:t>WALL-CLOCK · SHIP</a:t>
            </a:r>
            <a:endParaRPr lang="en-US" sz="1050" dirty="0"/>
          </a:p>
        </p:txBody>
      </p:sp>
      <p:sp>
        <p:nvSpPr>
          <p:cNvPr id="31" name="Text 28"/>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32" name="Text 29"/>
          <p:cNvSpPr/>
          <p:nvPr/>
        </p:nvSpPr>
        <p:spPr>
          <a:xfrm>
            <a:off x="12533352" y="9631680"/>
            <a:ext cx="5142428"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5 PRODUCTS · 1 VPS · ZERO OUTAGES MAY 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450140" y="502920"/>
            <a:ext cx="3168137"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08 / 15 · CASE · HUYGHU</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08 — CASE STUDY · 01</a:t>
            </a:r>
            <a:endParaRPr lang="en-US" sz="1500" dirty="0"/>
          </a:p>
        </p:txBody>
      </p:sp>
      <p:sp>
        <p:nvSpPr>
          <p:cNvPr id="6" name="Text 3"/>
          <p:cNvSpPr/>
          <p:nvPr/>
        </p:nvSpPr>
        <p:spPr>
          <a:xfrm>
            <a:off x="1143000" y="2164080"/>
            <a:ext cx="8222267" cy="297180"/>
          </a:xfrm>
          <a:prstGeom prst="rect">
            <a:avLst/>
          </a:prstGeom>
          <a:noFill/>
          <a:ln/>
        </p:spPr>
        <p:txBody>
          <a:bodyPr wrap="square" lIns="25400" tIns="25400" rIns="25400" bIns="25400" rtlCol="0" anchor="t">
            <a:normAutofit/>
          </a:bodyPr>
          <a:lstStyle/>
          <a:p>
            <a:pPr algn="l" indent="0" marL="0">
              <a:buNone/>
            </a:pPr>
            <a:r>
              <a:rPr lang="en-US" sz="1500" spc="270" kern="0" dirty="0">
                <a:solidFill>
                  <a:srgbClr val="B85F3F"/>
                </a:solidFill>
                <a:latin typeface="JetBrains Mono" pitchFamily="34" charset="0"/>
                <a:ea typeface="JetBrains Mono" pitchFamily="34" charset="-122"/>
                <a:cs typeface="JetBrains Mono" pitchFamily="34" charset="-120"/>
              </a:rPr>
              <a:t>▌ FULL BRAND IDENTITY · 6 HOURS</a:t>
            </a:r>
            <a:endParaRPr lang="en-US" sz="1500" dirty="0"/>
          </a:p>
        </p:txBody>
      </p:sp>
      <p:sp>
        <p:nvSpPr>
          <p:cNvPr id="7" name="Text 4"/>
          <p:cNvSpPr/>
          <p:nvPr/>
        </p:nvSpPr>
        <p:spPr>
          <a:xfrm>
            <a:off x="1143000" y="2575560"/>
            <a:ext cx="8222267" cy="1793558"/>
          </a:xfrm>
          <a:prstGeom prst="rect">
            <a:avLst/>
          </a:prstGeom>
          <a:noFill/>
          <a:ln/>
        </p:spPr>
        <p:txBody>
          <a:bodyPr wrap="square" lIns="25400" tIns="25400" rIns="25400" bIns="25400" rtlCol="0" anchor="t">
            <a:normAutofit/>
          </a:bodyPr>
          <a:lstStyle/>
          <a:p>
            <a:pPr algn="l" indent="0" marL="0">
              <a:lnSpc>
                <a:spcPct val="96000"/>
              </a:lnSpc>
              <a:buNone/>
            </a:pPr>
            <a:r>
              <a:rPr lang="en-US" sz="7200" b="1" spc="-252" kern="0" dirty="0">
                <a:solidFill>
                  <a:srgbClr val="3D3929"/>
                </a:solidFill>
                <a:latin typeface="Poppins" pitchFamily="34" charset="0"/>
                <a:ea typeface="Poppins" pitchFamily="34" charset="-122"/>
                <a:cs typeface="Poppins" pitchFamily="34" charset="-120"/>
              </a:rPr>
              <a:t>HUYGHU &amp; Asociados.</a:t>
            </a:r>
            <a:endParaRPr lang="en-US" sz="7200" dirty="0"/>
          </a:p>
        </p:txBody>
      </p:sp>
      <p:sp>
        <p:nvSpPr>
          <p:cNvPr id="8" name="Text 5"/>
          <p:cNvSpPr/>
          <p:nvPr/>
        </p:nvSpPr>
        <p:spPr>
          <a:xfrm>
            <a:off x="1143000" y="4654868"/>
            <a:ext cx="6671310" cy="1349692"/>
          </a:xfrm>
          <a:prstGeom prst="rect">
            <a:avLst/>
          </a:prstGeom>
          <a:noFill/>
          <a:ln/>
        </p:spPr>
        <p:txBody>
          <a:bodyPr wrap="square" lIns="25400" tIns="25400" rIns="25400" bIns="25400" rtlCol="0" anchor="t">
            <a:normAutofit/>
          </a:bodyPr>
          <a:lstStyle/>
          <a:p>
            <a:pPr algn="l" indent="0" marL="0">
              <a:lnSpc>
                <a:spcPct val="135000"/>
              </a:lnSpc>
              <a:buNone/>
            </a:pPr>
            <a:r>
              <a:rPr lang="en-US" sz="2550" i="1" dirty="0">
                <a:solidFill>
                  <a:srgbClr val="3D3929">
                    <a:alpha val="70000"/>
                  </a:srgbClr>
                </a:solidFill>
                <a:latin typeface="Lora" pitchFamily="34" charset="0"/>
                <a:ea typeface="Lora" pitchFamily="34" charset="-122"/>
                <a:cs typeface="Lora" pitchFamily="34" charset="-120"/>
              </a:rPr>
              <a:t>A Dominican tax-advisory firm needed a complete identity bundle before a Monday board meeting. Friday night, one terminal.</a:t>
            </a:r>
            <a:endParaRPr lang="en-US" sz="2550" dirty="0"/>
          </a:p>
        </p:txBody>
      </p:sp>
      <p:sp>
        <p:nvSpPr>
          <p:cNvPr id="9" name="Shape 6"/>
          <p:cNvSpPr/>
          <p:nvPr/>
        </p:nvSpPr>
        <p:spPr>
          <a:xfrm>
            <a:off x="1143000" y="6309360"/>
            <a:ext cx="3877032" cy="1264920"/>
          </a:xfrm>
          <a:prstGeom prst="roundRect">
            <a:avLst>
              <a:gd name="adj" fmla="val 7530"/>
            </a:avLst>
          </a:prstGeom>
          <a:solidFill>
            <a:srgbClr val="E6E2D2"/>
          </a:solidFill>
          <a:ln/>
        </p:spPr>
      </p:sp>
      <p:sp>
        <p:nvSpPr>
          <p:cNvPr id="10" name="Text 7"/>
          <p:cNvSpPr/>
          <p:nvPr/>
        </p:nvSpPr>
        <p:spPr>
          <a:xfrm>
            <a:off x="1371600" y="6534150"/>
            <a:ext cx="123372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WALL-CLOCK</a:t>
            </a:r>
            <a:endParaRPr lang="en-US" sz="1050" dirty="0"/>
          </a:p>
        </p:txBody>
      </p:sp>
      <p:sp>
        <p:nvSpPr>
          <p:cNvPr id="11" name="Text 8"/>
          <p:cNvSpPr/>
          <p:nvPr/>
        </p:nvSpPr>
        <p:spPr>
          <a:xfrm>
            <a:off x="1371600" y="6755130"/>
            <a:ext cx="352242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6</a:t>
            </a:r>
            <a:pPr algn="l" indent="0" marL="0">
              <a:lnSpc>
                <a:spcPct val="100000"/>
              </a:lnSpc>
              <a:buNone/>
            </a:pPr>
            <a:r>
              <a:rPr lang="en-US" sz="1800" b="1" spc="-120" kern="0" dirty="0">
                <a:solidFill>
                  <a:srgbClr val="DA7756"/>
                </a:solidFill>
                <a:latin typeface="Poppins" pitchFamily="34" charset="0"/>
                <a:ea typeface="Poppins" pitchFamily="34" charset="-122"/>
                <a:cs typeface="Poppins" pitchFamily="34" charset="-120"/>
              </a:rPr>
              <a:t>h</a:t>
            </a:r>
            <a:endParaRPr lang="en-US" sz="4800" dirty="0"/>
          </a:p>
        </p:txBody>
      </p:sp>
      <p:sp>
        <p:nvSpPr>
          <p:cNvPr id="12" name="Shape 9"/>
          <p:cNvSpPr/>
          <p:nvPr/>
        </p:nvSpPr>
        <p:spPr>
          <a:xfrm>
            <a:off x="5248633" y="6309360"/>
            <a:ext cx="3877151" cy="1264920"/>
          </a:xfrm>
          <a:prstGeom prst="roundRect">
            <a:avLst>
              <a:gd name="adj" fmla="val 7530"/>
            </a:avLst>
          </a:prstGeom>
          <a:solidFill>
            <a:srgbClr val="E6E2D2"/>
          </a:solidFill>
          <a:ln/>
        </p:spPr>
      </p:sp>
      <p:sp>
        <p:nvSpPr>
          <p:cNvPr id="13" name="Text 10"/>
          <p:cNvSpPr/>
          <p:nvPr/>
        </p:nvSpPr>
        <p:spPr>
          <a:xfrm>
            <a:off x="5477233" y="6534150"/>
            <a:ext cx="142422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DELIVERABLES</a:t>
            </a:r>
            <a:endParaRPr lang="en-US" sz="1050" dirty="0"/>
          </a:p>
        </p:txBody>
      </p:sp>
      <p:sp>
        <p:nvSpPr>
          <p:cNvPr id="14" name="Text 11"/>
          <p:cNvSpPr/>
          <p:nvPr/>
        </p:nvSpPr>
        <p:spPr>
          <a:xfrm>
            <a:off x="5477233" y="6755130"/>
            <a:ext cx="3522550"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8</a:t>
            </a:r>
            <a:pPr algn="l" indent="0" marL="0">
              <a:lnSpc>
                <a:spcPct val="100000"/>
              </a:lnSpc>
              <a:buNone/>
            </a:pPr>
            <a:r>
              <a:rPr lang="en-US" sz="1800" b="1" spc="-120" kern="0" dirty="0">
                <a:solidFill>
                  <a:srgbClr val="DA7756"/>
                </a:solidFill>
                <a:latin typeface="Poppins" pitchFamily="34" charset="0"/>
                <a:ea typeface="Poppins" pitchFamily="34" charset="-122"/>
                <a:cs typeface="Poppins" pitchFamily="34" charset="-120"/>
              </a:rPr>
              <a:t>blocks</a:t>
            </a:r>
            <a:endParaRPr lang="en-US" sz="4800" dirty="0"/>
          </a:p>
        </p:txBody>
      </p:sp>
      <p:sp>
        <p:nvSpPr>
          <p:cNvPr id="15" name="Shape 12"/>
          <p:cNvSpPr/>
          <p:nvPr/>
        </p:nvSpPr>
        <p:spPr>
          <a:xfrm>
            <a:off x="1143000" y="7802880"/>
            <a:ext cx="3877032" cy="1264920"/>
          </a:xfrm>
          <a:prstGeom prst="roundRect">
            <a:avLst>
              <a:gd name="adj" fmla="val 7530"/>
            </a:avLst>
          </a:prstGeom>
          <a:solidFill>
            <a:srgbClr val="E6E2D2"/>
          </a:solidFill>
          <a:ln/>
        </p:spPr>
      </p:sp>
      <p:sp>
        <p:nvSpPr>
          <p:cNvPr id="16" name="Text 13"/>
          <p:cNvSpPr/>
          <p:nvPr/>
        </p:nvSpPr>
        <p:spPr>
          <a:xfrm>
            <a:off x="1371600" y="8027670"/>
            <a:ext cx="151947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FILES SHIPPED</a:t>
            </a:r>
            <a:endParaRPr lang="en-US" sz="1050" dirty="0"/>
          </a:p>
        </p:txBody>
      </p:sp>
      <p:sp>
        <p:nvSpPr>
          <p:cNvPr id="17" name="Text 14"/>
          <p:cNvSpPr/>
          <p:nvPr/>
        </p:nvSpPr>
        <p:spPr>
          <a:xfrm>
            <a:off x="1371600" y="8248650"/>
            <a:ext cx="352242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142</a:t>
            </a:r>
            <a:endParaRPr lang="en-US" sz="4800" dirty="0"/>
          </a:p>
        </p:txBody>
      </p:sp>
      <p:sp>
        <p:nvSpPr>
          <p:cNvPr id="18" name="Shape 15"/>
          <p:cNvSpPr/>
          <p:nvPr/>
        </p:nvSpPr>
        <p:spPr>
          <a:xfrm>
            <a:off x="5248633" y="7802880"/>
            <a:ext cx="3877151" cy="1264920"/>
          </a:xfrm>
          <a:prstGeom prst="roundRect">
            <a:avLst>
              <a:gd name="adj" fmla="val 7530"/>
            </a:avLst>
          </a:prstGeom>
          <a:solidFill>
            <a:srgbClr val="E6E2D2"/>
          </a:solidFill>
          <a:ln/>
        </p:spPr>
      </p:sp>
      <p:sp>
        <p:nvSpPr>
          <p:cNvPr id="19" name="Text 16"/>
          <p:cNvSpPr/>
          <p:nvPr/>
        </p:nvSpPr>
        <p:spPr>
          <a:xfrm>
            <a:off x="5477233" y="8027670"/>
            <a:ext cx="161472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RE-RUNS NEEDED</a:t>
            </a:r>
            <a:endParaRPr lang="en-US" sz="1050" dirty="0"/>
          </a:p>
        </p:txBody>
      </p:sp>
      <p:sp>
        <p:nvSpPr>
          <p:cNvPr id="20" name="Text 17"/>
          <p:cNvSpPr/>
          <p:nvPr/>
        </p:nvSpPr>
        <p:spPr>
          <a:xfrm>
            <a:off x="5477233" y="8248650"/>
            <a:ext cx="3522550"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0</a:t>
            </a:r>
            <a:endParaRPr lang="en-US" sz="4800" dirty="0"/>
          </a:p>
        </p:txBody>
      </p:sp>
      <p:sp>
        <p:nvSpPr>
          <p:cNvPr id="21" name="Shape 18"/>
          <p:cNvSpPr/>
          <p:nvPr/>
        </p:nvSpPr>
        <p:spPr>
          <a:xfrm>
            <a:off x="9887784" y="2164080"/>
            <a:ext cx="7257217" cy="6286500"/>
          </a:xfrm>
          <a:prstGeom prst="roundRect">
            <a:avLst>
              <a:gd name="adj" fmla="val 2727"/>
            </a:avLst>
          </a:prstGeom>
          <a:solidFill>
            <a:srgbClr val="3D3929"/>
          </a:solidFill>
          <a:ln/>
        </p:spPr>
      </p:sp>
      <p:sp>
        <p:nvSpPr>
          <p:cNvPr id="22" name="Text 19"/>
          <p:cNvSpPr/>
          <p:nvPr/>
        </p:nvSpPr>
        <p:spPr>
          <a:xfrm>
            <a:off x="10116384" y="2392680"/>
            <a:ext cx="1858923" cy="21336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DA7756"/>
                </a:solidFill>
                <a:latin typeface="JetBrains Mono" pitchFamily="34" charset="0"/>
                <a:ea typeface="JetBrains Mono" pitchFamily="34" charset="-122"/>
                <a:cs typeface="JetBrains Mono" pitchFamily="34" charset="-120"/>
              </a:rPr>
              <a:t>▌ HUYGHU · BUNDLE</a:t>
            </a:r>
            <a:endParaRPr lang="en-US" sz="1050" dirty="0"/>
          </a:p>
        </p:txBody>
      </p:sp>
      <p:sp>
        <p:nvSpPr>
          <p:cNvPr id="23" name="Text 20"/>
          <p:cNvSpPr/>
          <p:nvPr/>
        </p:nvSpPr>
        <p:spPr>
          <a:xfrm>
            <a:off x="10268784" y="29260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DA7756"/>
                </a:solidFill>
                <a:latin typeface="JetBrains Mono" pitchFamily="34" charset="0"/>
                <a:ea typeface="JetBrains Mono" pitchFamily="34" charset="-122"/>
                <a:cs typeface="JetBrains Mono" pitchFamily="34" charset="-120"/>
              </a:rPr>
              <a:t>huyghu-identity/</a:t>
            </a:r>
            <a:endParaRPr lang="en-US" sz="1350" dirty="0"/>
          </a:p>
        </p:txBody>
      </p:sp>
      <p:sp>
        <p:nvSpPr>
          <p:cNvPr id="24" name="Text 21"/>
          <p:cNvSpPr/>
          <p:nvPr/>
        </p:nvSpPr>
        <p:spPr>
          <a:xfrm>
            <a:off x="10268784" y="32689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a:t>
            </a:r>
            <a:pPr algn="l" indent="0" marL="0">
              <a:lnSpc>
                <a:spcPct val="200000"/>
              </a:lnSpc>
              <a:buNone/>
            </a:pPr>
            <a:r>
              <a:rPr lang="en-US" sz="1350" dirty="0">
                <a:solidFill>
                  <a:srgbClr val="EEECE2"/>
                </a:solidFill>
                <a:latin typeface="JetBrains Mono" pitchFamily="34" charset="0"/>
                <a:ea typeface="JetBrains Mono" pitchFamily="34" charset="-122"/>
                <a:cs typeface="JetBrains Mono" pitchFamily="34" charset="-120"/>
              </a:rPr>
              <a:t>README.md</a:t>
            </a:r>
            <a:endParaRPr lang="en-US" sz="1350" dirty="0"/>
          </a:p>
        </p:txBody>
      </p:sp>
      <p:sp>
        <p:nvSpPr>
          <p:cNvPr id="25" name="Text 22"/>
          <p:cNvSpPr/>
          <p:nvPr/>
        </p:nvSpPr>
        <p:spPr>
          <a:xfrm>
            <a:off x="10268784" y="36118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BRAND-PALETTE.md</a:t>
            </a:r>
            <a:endParaRPr lang="en-US" sz="1350" dirty="0"/>
          </a:p>
        </p:txBody>
      </p:sp>
      <p:sp>
        <p:nvSpPr>
          <p:cNvPr id="26" name="Text 23"/>
          <p:cNvSpPr/>
          <p:nvPr/>
        </p:nvSpPr>
        <p:spPr>
          <a:xfrm>
            <a:off x="10268784" y="39547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assets/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12 SVG variants</a:t>
            </a:r>
            <a:endParaRPr lang="en-US" sz="1350" dirty="0"/>
          </a:p>
        </p:txBody>
      </p:sp>
      <p:sp>
        <p:nvSpPr>
          <p:cNvPr id="27" name="Text 24"/>
          <p:cNvSpPr/>
          <p:nvPr/>
        </p:nvSpPr>
        <p:spPr>
          <a:xfrm>
            <a:off x="10268784" y="42976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favicons/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10 + manifest</a:t>
            </a:r>
            <a:endParaRPr lang="en-US" sz="1350" dirty="0"/>
          </a:p>
        </p:txBody>
      </p:sp>
      <p:sp>
        <p:nvSpPr>
          <p:cNvPr id="28" name="Text 25"/>
          <p:cNvSpPr/>
          <p:nvPr/>
        </p:nvSpPr>
        <p:spPr>
          <a:xfrm>
            <a:off x="10268784" y="46405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signatures/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6 HTML</a:t>
            </a:r>
            <a:endParaRPr lang="en-US" sz="1350" dirty="0"/>
          </a:p>
        </p:txBody>
      </p:sp>
      <p:sp>
        <p:nvSpPr>
          <p:cNvPr id="29" name="Text 26"/>
          <p:cNvSpPr/>
          <p:nvPr/>
        </p:nvSpPr>
        <p:spPr>
          <a:xfrm>
            <a:off x="10268784" y="49834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cards/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vCard + PDF</a:t>
            </a:r>
            <a:endParaRPr lang="en-US" sz="1350" dirty="0"/>
          </a:p>
        </p:txBody>
      </p:sp>
      <p:sp>
        <p:nvSpPr>
          <p:cNvPr id="30" name="Text 27"/>
          <p:cNvSpPr/>
          <p:nvPr/>
        </p:nvSpPr>
        <p:spPr>
          <a:xfrm>
            <a:off x="10268784" y="53263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deck/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15-slide PPTX</a:t>
            </a:r>
            <a:endParaRPr lang="en-US" sz="1350" dirty="0"/>
          </a:p>
        </p:txBody>
      </p:sp>
      <p:sp>
        <p:nvSpPr>
          <p:cNvPr id="31" name="Text 28"/>
          <p:cNvSpPr/>
          <p:nvPr/>
        </p:nvSpPr>
        <p:spPr>
          <a:xfrm>
            <a:off x="10268784" y="56692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guidelines/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22pp printable</a:t>
            </a:r>
            <a:endParaRPr lang="en-US" sz="1350" dirty="0"/>
          </a:p>
        </p:txBody>
      </p:sp>
      <p:sp>
        <p:nvSpPr>
          <p:cNvPr id="32" name="Text 29"/>
          <p:cNvSpPr/>
          <p:nvPr/>
        </p:nvSpPr>
        <p:spPr>
          <a:xfrm>
            <a:off x="10268784" y="60121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emails/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6 transactional</a:t>
            </a:r>
            <a:endParaRPr lang="en-US" sz="1350" dirty="0"/>
          </a:p>
        </p:txBody>
      </p:sp>
      <p:sp>
        <p:nvSpPr>
          <p:cNvPr id="33" name="Text 30"/>
          <p:cNvSpPr/>
          <p:nvPr/>
        </p:nvSpPr>
        <p:spPr>
          <a:xfrm>
            <a:off x="10268784" y="63550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75000"/>
                  </a:srgbClr>
                </a:solidFill>
                <a:latin typeface="JetBrains Mono" pitchFamily="34" charset="0"/>
                <a:ea typeface="JetBrains Mono" pitchFamily="34" charset="-122"/>
                <a:cs typeface="JetBrains Mono" pitchFamily="34" charset="-120"/>
              </a:rPr>
              <a:t>└── social/ </a:t>
            </a:r>
            <a:pPr algn="l" indent="0" marL="0">
              <a:lnSpc>
                <a:spcPct val="200000"/>
              </a:lnSpc>
              <a:buNone/>
            </a:pPr>
            <a:r>
              <a:rPr lang="en-US" sz="1350" dirty="0">
                <a:solidFill>
                  <a:srgbClr val="EEECE2">
                    <a:alpha val="40000"/>
                  </a:srgbClr>
                </a:solidFill>
                <a:latin typeface="JetBrains Mono" pitchFamily="34" charset="0"/>
                <a:ea typeface="JetBrains Mono" pitchFamily="34" charset="-122"/>
                <a:cs typeface="JetBrains Mono" pitchFamily="34" charset="-120"/>
              </a:rPr>
              <a:t>— 36 SVG + PNG</a:t>
            </a:r>
            <a:endParaRPr lang="en-US" sz="1350" dirty="0"/>
          </a:p>
        </p:txBody>
      </p:sp>
      <p:sp>
        <p:nvSpPr>
          <p:cNvPr id="34" name="Text 31"/>
          <p:cNvSpPr/>
          <p:nvPr/>
        </p:nvSpPr>
        <p:spPr>
          <a:xfrm>
            <a:off x="10268784" y="69265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DA7756"/>
                </a:solidFill>
                <a:latin typeface="JetBrains Mono" pitchFamily="34" charset="0"/>
                <a:ea typeface="JetBrains Mono" pitchFamily="34" charset="-122"/>
                <a:cs typeface="JetBrains Mono" pitchFamily="34" charset="-120"/>
              </a:rPr>
              <a:t>▶ </a:t>
            </a:r>
            <a:pPr algn="l" indent="0" marL="0">
              <a:lnSpc>
                <a:spcPct val="200000"/>
              </a:lnSpc>
              <a:buNone/>
            </a:pPr>
            <a:r>
              <a:rPr lang="en-US" sz="1350" dirty="0">
                <a:solidFill>
                  <a:srgbClr val="EEECE2"/>
                </a:solidFill>
                <a:latin typeface="JetBrains Mono" pitchFamily="34" charset="0"/>
                <a:ea typeface="JetBrains Mono" pitchFamily="34" charset="-122"/>
                <a:cs typeface="JetBrains Mono" pitchFamily="34" charset="-120"/>
              </a:rPr>
              <a:t>sypnose build brand.md</a:t>
            </a:r>
            <a:endParaRPr lang="en-US" sz="1350" dirty="0"/>
          </a:p>
        </p:txBody>
      </p:sp>
      <p:sp>
        <p:nvSpPr>
          <p:cNvPr id="35" name="Text 32"/>
          <p:cNvSpPr/>
          <p:nvPr/>
        </p:nvSpPr>
        <p:spPr>
          <a:xfrm>
            <a:off x="10268784" y="7269480"/>
            <a:ext cx="6690073" cy="381000"/>
          </a:xfrm>
          <a:prstGeom prst="rect">
            <a:avLst/>
          </a:prstGeom>
          <a:noFill/>
          <a:ln/>
        </p:spPr>
        <p:txBody>
          <a:bodyPr wrap="square" lIns="25400" tIns="25400" rIns="25400" bIns="25400" rtlCol="0" anchor="t">
            <a:normAutofit/>
          </a:bodyPr>
          <a:lstStyle/>
          <a:p>
            <a:pPr algn="l" indent="0" marL="0">
              <a:lnSpc>
                <a:spcPct val="200000"/>
              </a:lnSpc>
              <a:buNone/>
            </a:pPr>
            <a:r>
              <a:rPr lang="en-US" sz="1350" dirty="0">
                <a:solidFill>
                  <a:srgbClr val="EEECE2">
                    <a:alpha val="50000"/>
                  </a:srgbClr>
                </a:solidFill>
                <a:latin typeface="JetBrains Mono" pitchFamily="34" charset="0"/>
                <a:ea typeface="JetBrains Mono" pitchFamily="34" charset="-122"/>
                <a:cs typeface="JetBrains Mono" pitchFamily="34" charset="-120"/>
              </a:rPr>
              <a:t># exit 0 · 6h 04m 22s · 0 errors</a:t>
            </a:r>
            <a:endParaRPr lang="en-US" sz="1350" dirty="0"/>
          </a:p>
        </p:txBody>
      </p:sp>
      <p:sp>
        <p:nvSpPr>
          <p:cNvPr id="36" name="Text 33"/>
          <p:cNvSpPr/>
          <p:nvPr/>
        </p:nvSpPr>
        <p:spPr>
          <a:xfrm>
            <a:off x="10116384" y="8046720"/>
            <a:ext cx="2913793"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EEECE2">
                    <a:alpha val="40000"/>
                  </a:srgbClr>
                </a:solidFill>
                <a:latin typeface="JetBrains Mono" pitchFamily="34" charset="0"/>
                <a:ea typeface="JetBrains Mono" pitchFamily="34" charset="-122"/>
                <a:cs typeface="JetBrains Mono" pitchFamily="34" charset="-120"/>
              </a:rPr>
              <a:t>/sypnose-runs/huyghu-brand.log</a:t>
            </a:r>
            <a:endParaRPr lang="en-US" sz="1050" dirty="0"/>
          </a:p>
        </p:txBody>
      </p:sp>
      <p:sp>
        <p:nvSpPr>
          <p:cNvPr id="37" name="Text 34"/>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38" name="Text 35"/>
          <p:cNvSpPr/>
          <p:nvPr/>
        </p:nvSpPr>
        <p:spPr>
          <a:xfrm>
            <a:off x="12176760" y="9631680"/>
            <a:ext cx="5509718"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WHAT YOU'RE LOOKING AT WAS BUILT THE SAME WAY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316432" y="502920"/>
            <a:ext cx="3305855"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09 / 15 · CASE · STRATOS</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09 — CASE STUDY · 02</a:t>
            </a:r>
            <a:endParaRPr lang="en-US" sz="1500" dirty="0"/>
          </a:p>
        </p:txBody>
      </p:sp>
      <p:sp>
        <p:nvSpPr>
          <p:cNvPr id="6" name="Text 3"/>
          <p:cNvSpPr/>
          <p:nvPr/>
        </p:nvSpPr>
        <p:spPr>
          <a:xfrm>
            <a:off x="1143000" y="2164080"/>
            <a:ext cx="8222267" cy="297180"/>
          </a:xfrm>
          <a:prstGeom prst="rect">
            <a:avLst/>
          </a:prstGeom>
          <a:noFill/>
          <a:ln/>
        </p:spPr>
        <p:txBody>
          <a:bodyPr wrap="square" lIns="25400" tIns="25400" rIns="25400" bIns="25400" rtlCol="0" anchor="t">
            <a:normAutofit/>
          </a:bodyPr>
          <a:lstStyle/>
          <a:p>
            <a:pPr algn="l" indent="0" marL="0">
              <a:buNone/>
            </a:pPr>
            <a:r>
              <a:rPr lang="en-US" sz="1500" spc="270" kern="0" dirty="0">
                <a:solidFill>
                  <a:srgbClr val="B85F3F"/>
                </a:solidFill>
                <a:latin typeface="JetBrains Mono" pitchFamily="34" charset="0"/>
                <a:ea typeface="JetBrains Mono" pitchFamily="34" charset="-122"/>
                <a:cs typeface="JetBrains Mono" pitchFamily="34" charset="-120"/>
              </a:rPr>
              <a:t>▌ TRADING PLATFORM · 27 HOURS</a:t>
            </a:r>
            <a:endParaRPr lang="en-US" sz="1500" dirty="0"/>
          </a:p>
        </p:txBody>
      </p:sp>
      <p:sp>
        <p:nvSpPr>
          <p:cNvPr id="7" name="Text 4"/>
          <p:cNvSpPr/>
          <p:nvPr/>
        </p:nvSpPr>
        <p:spPr>
          <a:xfrm>
            <a:off x="1143000" y="2575560"/>
            <a:ext cx="8222267" cy="1793558"/>
          </a:xfrm>
          <a:prstGeom prst="rect">
            <a:avLst/>
          </a:prstGeom>
          <a:noFill/>
          <a:ln/>
        </p:spPr>
        <p:txBody>
          <a:bodyPr wrap="square" lIns="25400" tIns="25400" rIns="25400" bIns="25400" rtlCol="0" anchor="t">
            <a:normAutofit/>
          </a:bodyPr>
          <a:lstStyle/>
          <a:p>
            <a:pPr algn="l" indent="0" marL="0">
              <a:lnSpc>
                <a:spcPct val="96000"/>
              </a:lnSpc>
              <a:buNone/>
            </a:pPr>
            <a:r>
              <a:rPr lang="en-US" sz="7200" b="1" spc="-252" kern="0" dirty="0">
                <a:solidFill>
                  <a:srgbClr val="3D3929"/>
                </a:solidFill>
                <a:latin typeface="Poppins" pitchFamily="34" charset="0"/>
                <a:ea typeface="Poppins" pitchFamily="34" charset="-122"/>
                <a:cs typeface="Poppins" pitchFamily="34" charset="-120"/>
              </a:rPr>
              <a:t>Stratos Console.</a:t>
            </a:r>
            <a:endParaRPr lang="en-US" sz="7200" dirty="0"/>
          </a:p>
        </p:txBody>
      </p:sp>
      <p:sp>
        <p:nvSpPr>
          <p:cNvPr id="8" name="Text 5"/>
          <p:cNvSpPr/>
          <p:nvPr/>
        </p:nvSpPr>
        <p:spPr>
          <a:xfrm>
            <a:off x="1143000" y="4654868"/>
            <a:ext cx="6671310" cy="1786890"/>
          </a:xfrm>
          <a:prstGeom prst="rect">
            <a:avLst/>
          </a:prstGeom>
          <a:noFill/>
          <a:ln/>
        </p:spPr>
        <p:txBody>
          <a:bodyPr wrap="square" lIns="25400" tIns="25400" rIns="25400" bIns="25400" rtlCol="0" anchor="t">
            <a:normAutofit/>
          </a:bodyPr>
          <a:lstStyle/>
          <a:p>
            <a:pPr algn="l" indent="0" marL="0">
              <a:lnSpc>
                <a:spcPct val="135000"/>
              </a:lnSpc>
              <a:buNone/>
            </a:pPr>
            <a:r>
              <a:rPr lang="en-US" sz="2550" i="1" dirty="0">
                <a:solidFill>
                  <a:srgbClr val="3D3929">
                    <a:alpha val="70000"/>
                  </a:srgbClr>
                </a:solidFill>
                <a:latin typeface="Lora" pitchFamily="34" charset="0"/>
                <a:ea typeface="Lora" pitchFamily="34" charset="-122"/>
                <a:cs typeface="Lora" pitchFamily="34" charset="-120"/>
              </a:rPr>
              <a:t>A full trading dashboard — risk panel, six order types, paper-trading sandbox, E2E tests, deployed behind Cloudflare Access — shipped in 27 hours of wall-clock.</a:t>
            </a:r>
            <a:endParaRPr lang="en-US" sz="2550" dirty="0"/>
          </a:p>
        </p:txBody>
      </p:sp>
      <p:sp>
        <p:nvSpPr>
          <p:cNvPr id="9" name="Shape 6"/>
          <p:cNvSpPr/>
          <p:nvPr/>
        </p:nvSpPr>
        <p:spPr>
          <a:xfrm>
            <a:off x="1143000" y="6746557"/>
            <a:ext cx="3877032" cy="1264920"/>
          </a:xfrm>
          <a:prstGeom prst="roundRect">
            <a:avLst>
              <a:gd name="adj" fmla="val 7530"/>
            </a:avLst>
          </a:prstGeom>
          <a:solidFill>
            <a:srgbClr val="E6E2D2"/>
          </a:solidFill>
          <a:ln/>
        </p:spPr>
      </p:sp>
      <p:sp>
        <p:nvSpPr>
          <p:cNvPr id="10" name="Text 7"/>
          <p:cNvSpPr/>
          <p:nvPr/>
        </p:nvSpPr>
        <p:spPr>
          <a:xfrm>
            <a:off x="1371600" y="6971348"/>
            <a:ext cx="123372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WALL-CLOCK</a:t>
            </a:r>
            <a:endParaRPr lang="en-US" sz="1050" dirty="0"/>
          </a:p>
        </p:txBody>
      </p:sp>
      <p:sp>
        <p:nvSpPr>
          <p:cNvPr id="11" name="Text 8"/>
          <p:cNvSpPr/>
          <p:nvPr/>
        </p:nvSpPr>
        <p:spPr>
          <a:xfrm>
            <a:off x="1371600" y="7192328"/>
            <a:ext cx="352242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27</a:t>
            </a:r>
            <a:pPr algn="l" indent="0" marL="0">
              <a:lnSpc>
                <a:spcPct val="100000"/>
              </a:lnSpc>
              <a:buNone/>
            </a:pPr>
            <a:r>
              <a:rPr lang="en-US" sz="1800" b="1" spc="-120" kern="0" dirty="0">
                <a:solidFill>
                  <a:srgbClr val="DA7756"/>
                </a:solidFill>
                <a:latin typeface="Poppins" pitchFamily="34" charset="0"/>
                <a:ea typeface="Poppins" pitchFamily="34" charset="-122"/>
                <a:cs typeface="Poppins" pitchFamily="34" charset="-120"/>
              </a:rPr>
              <a:t>h</a:t>
            </a:r>
            <a:endParaRPr lang="en-US" sz="4800" dirty="0"/>
          </a:p>
        </p:txBody>
      </p:sp>
      <p:sp>
        <p:nvSpPr>
          <p:cNvPr id="12" name="Shape 9"/>
          <p:cNvSpPr/>
          <p:nvPr/>
        </p:nvSpPr>
        <p:spPr>
          <a:xfrm>
            <a:off x="5248633" y="6746557"/>
            <a:ext cx="3877151" cy="1264920"/>
          </a:xfrm>
          <a:prstGeom prst="roundRect">
            <a:avLst>
              <a:gd name="adj" fmla="val 7530"/>
            </a:avLst>
          </a:prstGeom>
          <a:solidFill>
            <a:srgbClr val="E6E2D2"/>
          </a:solidFill>
          <a:ln/>
        </p:spPr>
      </p:sp>
      <p:sp>
        <p:nvSpPr>
          <p:cNvPr id="13" name="Text 10"/>
          <p:cNvSpPr/>
          <p:nvPr/>
        </p:nvSpPr>
        <p:spPr>
          <a:xfrm>
            <a:off x="5477233" y="6971348"/>
            <a:ext cx="132897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ORDER TYPES</a:t>
            </a:r>
            <a:endParaRPr lang="en-US" sz="1050" dirty="0"/>
          </a:p>
        </p:txBody>
      </p:sp>
      <p:sp>
        <p:nvSpPr>
          <p:cNvPr id="14" name="Text 11"/>
          <p:cNvSpPr/>
          <p:nvPr/>
        </p:nvSpPr>
        <p:spPr>
          <a:xfrm>
            <a:off x="5477233" y="7192328"/>
            <a:ext cx="3522550"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6</a:t>
            </a:r>
            <a:endParaRPr lang="en-US" sz="4800" dirty="0"/>
          </a:p>
        </p:txBody>
      </p:sp>
      <p:sp>
        <p:nvSpPr>
          <p:cNvPr id="15" name="Shape 12"/>
          <p:cNvSpPr/>
          <p:nvPr/>
        </p:nvSpPr>
        <p:spPr>
          <a:xfrm>
            <a:off x="1143000" y="8240078"/>
            <a:ext cx="3877032" cy="1264920"/>
          </a:xfrm>
          <a:prstGeom prst="roundRect">
            <a:avLst>
              <a:gd name="adj" fmla="val 7530"/>
            </a:avLst>
          </a:prstGeom>
          <a:solidFill>
            <a:srgbClr val="E6E2D2"/>
          </a:solidFill>
          <a:ln/>
        </p:spPr>
      </p:sp>
      <p:sp>
        <p:nvSpPr>
          <p:cNvPr id="16" name="Text 13"/>
          <p:cNvSpPr/>
          <p:nvPr/>
        </p:nvSpPr>
        <p:spPr>
          <a:xfrm>
            <a:off x="1371600" y="8464868"/>
            <a:ext cx="113847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E2E TESTS</a:t>
            </a:r>
            <a:endParaRPr lang="en-US" sz="1050" dirty="0"/>
          </a:p>
        </p:txBody>
      </p:sp>
      <p:sp>
        <p:nvSpPr>
          <p:cNvPr id="17" name="Text 14"/>
          <p:cNvSpPr/>
          <p:nvPr/>
        </p:nvSpPr>
        <p:spPr>
          <a:xfrm>
            <a:off x="1371600" y="8685848"/>
            <a:ext cx="352242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218</a:t>
            </a:r>
            <a:endParaRPr lang="en-US" sz="4800" dirty="0"/>
          </a:p>
        </p:txBody>
      </p:sp>
      <p:sp>
        <p:nvSpPr>
          <p:cNvPr id="18" name="Shape 15"/>
          <p:cNvSpPr/>
          <p:nvPr/>
        </p:nvSpPr>
        <p:spPr>
          <a:xfrm>
            <a:off x="5248633" y="8240078"/>
            <a:ext cx="3877151" cy="1264920"/>
          </a:xfrm>
          <a:prstGeom prst="roundRect">
            <a:avLst>
              <a:gd name="adj" fmla="val 7530"/>
            </a:avLst>
          </a:prstGeom>
          <a:solidFill>
            <a:srgbClr val="E6E2D2"/>
          </a:solidFill>
          <a:ln/>
        </p:spPr>
      </p:sp>
      <p:sp>
        <p:nvSpPr>
          <p:cNvPr id="19" name="Text 16"/>
          <p:cNvSpPr/>
          <p:nvPr/>
        </p:nvSpPr>
        <p:spPr>
          <a:xfrm>
            <a:off x="5477233" y="8464868"/>
            <a:ext cx="1614726" cy="213360"/>
          </a:xfrm>
          <a:prstGeom prst="rect">
            <a:avLst/>
          </a:prstGeom>
          <a:noFill/>
          <a:ln/>
        </p:spPr>
        <p:txBody>
          <a:bodyPr wrap="square" lIns="25400" tIns="25400" rIns="25400" bIns="25400" rtlCol="0" anchor="t">
            <a:normAutofit/>
          </a:bodyPr>
          <a:lstStyle/>
          <a:p>
            <a:pPr algn="l" indent="0" marL="0">
              <a:buNone/>
            </a:pPr>
            <a:r>
              <a:rPr lang="en-US" sz="1050" spc="120" kern="0" dirty="0">
                <a:solidFill>
                  <a:srgbClr val="B85F3F"/>
                </a:solidFill>
                <a:latin typeface="JetBrains Mono" pitchFamily="34" charset="0"/>
                <a:ea typeface="JetBrains Mono" pitchFamily="34" charset="-122"/>
                <a:cs typeface="JetBrains Mono" pitchFamily="34" charset="-120"/>
              </a:rPr>
              <a:t>▌ REVIEWER FAILS</a:t>
            </a:r>
            <a:endParaRPr lang="en-US" sz="1050" dirty="0"/>
          </a:p>
        </p:txBody>
      </p:sp>
      <p:sp>
        <p:nvSpPr>
          <p:cNvPr id="20" name="Text 17"/>
          <p:cNvSpPr/>
          <p:nvPr/>
        </p:nvSpPr>
        <p:spPr>
          <a:xfrm>
            <a:off x="5477233" y="8685848"/>
            <a:ext cx="3522550"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3D3929"/>
                </a:solidFill>
                <a:latin typeface="Poppins" pitchFamily="34" charset="0"/>
                <a:ea typeface="Poppins" pitchFamily="34" charset="-122"/>
                <a:cs typeface="Poppins" pitchFamily="34" charset="-120"/>
              </a:rPr>
              <a:t>0</a:t>
            </a:r>
            <a:endParaRPr lang="en-US" sz="4800" dirty="0"/>
          </a:p>
        </p:txBody>
      </p:sp>
      <p:sp>
        <p:nvSpPr>
          <p:cNvPr id="21" name="Shape 18"/>
          <p:cNvSpPr/>
          <p:nvPr/>
        </p:nvSpPr>
        <p:spPr>
          <a:xfrm>
            <a:off x="9887784" y="2164080"/>
            <a:ext cx="7257217" cy="6286500"/>
          </a:xfrm>
          <a:prstGeom prst="roundRect">
            <a:avLst>
              <a:gd name="adj" fmla="val 2727"/>
            </a:avLst>
          </a:prstGeom>
          <a:solidFill>
            <a:srgbClr val="1C1A14"/>
          </a:solidFill>
          <a:ln/>
        </p:spPr>
      </p:sp>
      <p:sp>
        <p:nvSpPr>
          <p:cNvPr id="22" name="Text 19"/>
          <p:cNvSpPr/>
          <p:nvPr/>
        </p:nvSpPr>
        <p:spPr>
          <a:xfrm>
            <a:off x="10116384" y="2392680"/>
            <a:ext cx="2066925" cy="21336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DA7756"/>
                </a:solidFill>
                <a:latin typeface="JetBrains Mono" pitchFamily="34" charset="0"/>
                <a:ea typeface="JetBrains Mono" pitchFamily="34" charset="-122"/>
                <a:cs typeface="JetBrains Mono" pitchFamily="34" charset="-120"/>
              </a:rPr>
              <a:t>▌ STRATOS · CONSOLE</a:t>
            </a:r>
            <a:endParaRPr lang="en-US" sz="1050" dirty="0"/>
          </a:p>
        </p:txBody>
      </p:sp>
      <p:pic>
        <p:nvPicPr>
          <p:cNvPr id="23" name="Image 1" descr="preencoded.png">    </p:cNvPr>
          <p:cNvPicPr>
            <a:picLocks noChangeAspect="1"/>
          </p:cNvPicPr>
          <p:nvPr/>
        </p:nvPicPr>
        <p:blipFill>
          <a:blip r:embed="rId2"/>
          <a:stretch>
            <a:fillRect/>
          </a:stretch>
        </p:blipFill>
        <p:spPr>
          <a:xfrm>
            <a:off x="10268784" y="2926080"/>
            <a:ext cx="6495217" cy="5010508"/>
          </a:xfrm>
          <a:prstGeom prst="rect">
            <a:avLst/>
          </a:prstGeom>
        </p:spPr>
      </p:pic>
      <p:sp>
        <p:nvSpPr>
          <p:cNvPr id="24" name="Text 20"/>
          <p:cNvSpPr/>
          <p:nvPr/>
        </p:nvSpPr>
        <p:spPr>
          <a:xfrm>
            <a:off x="10116384" y="8046720"/>
            <a:ext cx="3982183" cy="213360"/>
          </a:xfrm>
          <a:prstGeom prst="rect">
            <a:avLst/>
          </a:prstGeom>
          <a:noFill/>
          <a:ln/>
        </p:spPr>
        <p:txBody>
          <a:bodyPr wrap="square" lIns="25400" tIns="25400" rIns="25400" bIns="25400" rtlCol="0" anchor="t">
            <a:normAutofit/>
          </a:bodyPr>
          <a:lstStyle/>
          <a:p>
            <a:pPr algn="l" indent="0" marL="0">
              <a:buNone/>
            </a:pPr>
            <a:r>
              <a:rPr lang="en-US" sz="1050" spc="113" kern="0" dirty="0">
                <a:solidFill>
                  <a:srgbClr val="EEECE2">
                    <a:alpha val="40000"/>
                  </a:srgbClr>
                </a:solidFill>
                <a:latin typeface="JetBrains Mono" pitchFamily="34" charset="0"/>
                <a:ea typeface="JetBrains Mono" pitchFamily="34" charset="-122"/>
                <a:cs typeface="JetBrains Mono" pitchFamily="34" charset="-120"/>
              </a:rPr>
              <a:t>/sypnose-runs/stratos-deploy.log · exit 0</a:t>
            </a:r>
            <a:endParaRPr lang="en-US" sz="1050" dirty="0"/>
          </a:p>
        </p:txBody>
      </p:sp>
      <p:sp>
        <p:nvSpPr>
          <p:cNvPr id="25" name="Text 21"/>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26" name="Text 22"/>
          <p:cNvSpPr/>
          <p:nvPr/>
        </p:nvSpPr>
        <p:spPr>
          <a:xfrm>
            <a:off x="11701224" y="9631680"/>
            <a:ext cx="5999519"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TRADITIONAL ESTIMATE · 8 WEEKS · DELIVERED · 27 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D3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EEECE2"/>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851381" y="502920"/>
            <a:ext cx="2754859"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10 / 15 · TECH STACK</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DA7756"/>
                </a:solidFill>
                <a:latin typeface="JetBrains Mono" pitchFamily="34" charset="0"/>
                <a:ea typeface="JetBrains Mono" pitchFamily="34" charset="-122"/>
                <a:cs typeface="JetBrains Mono" pitchFamily="34" charset="-120"/>
              </a:rPr>
              <a:t>▌ § 10 — THE STACK UNDERNEATH</a:t>
            </a:r>
            <a:endParaRPr lang="en-US" sz="1500" dirty="0"/>
          </a:p>
        </p:txBody>
      </p:sp>
      <p:sp>
        <p:nvSpPr>
          <p:cNvPr id="6" name="Text 3"/>
          <p:cNvSpPr/>
          <p:nvPr/>
        </p:nvSpPr>
        <p:spPr>
          <a:xfrm>
            <a:off x="1143000" y="2049780"/>
            <a:ext cx="16482060" cy="113538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EEECE2"/>
                </a:solidFill>
                <a:latin typeface="Poppins" pitchFamily="34" charset="0"/>
                <a:ea typeface="Poppins" pitchFamily="34" charset="-122"/>
                <a:cs typeface="Poppins" pitchFamily="34" charset="-120"/>
              </a:rPr>
              <a:t>Boring on purpose.</a:t>
            </a:r>
            <a:endParaRPr lang="en-US" sz="9000" dirty="0"/>
          </a:p>
        </p:txBody>
      </p:sp>
      <p:sp>
        <p:nvSpPr>
          <p:cNvPr id="7" name="Text 4"/>
          <p:cNvSpPr/>
          <p:nvPr/>
        </p:nvSpPr>
        <p:spPr>
          <a:xfrm>
            <a:off x="1143000" y="3413760"/>
            <a:ext cx="12753975" cy="1622227"/>
          </a:xfrm>
          <a:prstGeom prst="rect">
            <a:avLst/>
          </a:prstGeom>
          <a:noFill/>
          <a:ln/>
        </p:spPr>
        <p:txBody>
          <a:bodyPr wrap="square" lIns="25400" tIns="25400" rIns="25400" bIns="25400" rtlCol="0" anchor="t">
            <a:normAutofit/>
          </a:bodyPr>
          <a:lstStyle/>
          <a:p>
            <a:pPr algn="l" indent="0" marL="0">
              <a:lnSpc>
                <a:spcPct val="132000"/>
              </a:lnSpc>
              <a:buNone/>
            </a:pPr>
            <a:r>
              <a:rPr lang="en-US" sz="3150" i="1" dirty="0">
                <a:solidFill>
                  <a:srgbClr val="EEECE2">
                    <a:alpha val="60000"/>
                  </a:srgbClr>
                </a:solidFill>
                <a:latin typeface="Lora" pitchFamily="34" charset="0"/>
                <a:ea typeface="Lora" pitchFamily="34" charset="-122"/>
                <a:cs typeface="Lora" pitchFamily="34" charset="-120"/>
              </a:rPr>
              <a:t>No proprietary protocols. No hand-rolled cryptography. Every layer is a thing your CTO has heard of and your security team has audited before.</a:t>
            </a:r>
            <a:endParaRPr lang="en-US" sz="3150" dirty="0"/>
          </a:p>
        </p:txBody>
      </p:sp>
      <p:sp>
        <p:nvSpPr>
          <p:cNvPr id="8" name="Shape 5"/>
          <p:cNvSpPr/>
          <p:nvPr/>
        </p:nvSpPr>
        <p:spPr>
          <a:xfrm>
            <a:off x="1143000" y="5455087"/>
            <a:ext cx="5130761" cy="2819400"/>
          </a:xfrm>
          <a:prstGeom prst="roundRect">
            <a:avLst>
              <a:gd name="adj" fmla="val 4730"/>
            </a:avLst>
          </a:prstGeom>
          <a:solidFill>
            <a:srgbClr val="2A261B"/>
          </a:solidFill>
          <a:ln w="7620">
            <a:solidFill>
              <a:srgbClr val="EEECE2">
                <a:alpha val="8000"/>
              </a:srgbClr>
            </a:solidFill>
            <a:prstDash val="solid"/>
          </a:ln>
        </p:spPr>
      </p:sp>
      <p:sp>
        <p:nvSpPr>
          <p:cNvPr id="9" name="Text 6"/>
          <p:cNvSpPr/>
          <p:nvPr/>
        </p:nvSpPr>
        <p:spPr>
          <a:xfrm>
            <a:off x="1455420" y="5767507"/>
            <a:ext cx="4641098" cy="213360"/>
          </a:xfrm>
          <a:prstGeom prst="rect">
            <a:avLst/>
          </a:prstGeom>
          <a:noFill/>
          <a:ln/>
        </p:spPr>
        <p:txBody>
          <a:bodyPr wrap="square" lIns="25400" tIns="25400" rIns="25400" bIns="25400" rtlCol="0" anchor="t">
            <a:normAutofit/>
          </a:bodyPr>
          <a:lstStyle/>
          <a:p>
            <a:pPr algn="l" indent="0" marL="0">
              <a:buNone/>
            </a:pPr>
            <a:r>
              <a:rPr lang="en-US" sz="1050" spc="135" kern="0" dirty="0">
                <a:solidFill>
                  <a:srgbClr val="B85F3F"/>
                </a:solidFill>
                <a:latin typeface="JetBrains Mono" pitchFamily="34" charset="0"/>
                <a:ea typeface="JetBrains Mono" pitchFamily="34" charset="-122"/>
                <a:cs typeface="JetBrains Mono" pitchFamily="34" charset="-120"/>
              </a:rPr>
              <a:t>▌ ORCHESTRATION</a:t>
            </a:r>
            <a:endParaRPr lang="en-US" sz="1050" dirty="0"/>
          </a:p>
        </p:txBody>
      </p:sp>
      <p:sp>
        <p:nvSpPr>
          <p:cNvPr id="10" name="Text 7"/>
          <p:cNvSpPr/>
          <p:nvPr/>
        </p:nvSpPr>
        <p:spPr>
          <a:xfrm>
            <a:off x="1455420" y="6076117"/>
            <a:ext cx="4641098" cy="495300"/>
          </a:xfrm>
          <a:prstGeom prst="rect">
            <a:avLst/>
          </a:prstGeom>
          <a:noFill/>
          <a:ln/>
        </p:spPr>
        <p:txBody>
          <a:bodyPr wrap="square" lIns="25400" tIns="25400" rIns="25400" bIns="25400" rtlCol="0" anchor="t">
            <a:normAutofit/>
          </a:bodyPr>
          <a:lstStyle/>
          <a:p>
            <a:pPr algn="l" indent="0" marL="0">
              <a:buNone/>
            </a:pPr>
            <a:r>
              <a:rPr lang="en-US" sz="2400" b="1" spc="-29" kern="0" dirty="0">
                <a:solidFill>
                  <a:srgbClr val="EEECE2"/>
                </a:solidFill>
                <a:latin typeface="Poppins" pitchFamily="34" charset="0"/>
                <a:ea typeface="Poppins" pitchFamily="34" charset="-122"/>
                <a:cs typeface="Poppins" pitchFamily="34" charset="-120"/>
              </a:rPr>
              <a:t>Worker shell</a:t>
            </a:r>
            <a:endParaRPr lang="en-US" sz="2400" dirty="0"/>
          </a:p>
        </p:txBody>
      </p:sp>
      <p:sp>
        <p:nvSpPr>
          <p:cNvPr id="11" name="Text 8"/>
          <p:cNvSpPr/>
          <p:nvPr/>
        </p:nvSpPr>
        <p:spPr>
          <a:xfrm>
            <a:off x="1455420" y="6666667"/>
            <a:ext cx="4641098" cy="1333500"/>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claude-code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512K LOC audited </a:t>
            </a:r>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gemini-vertex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parallel cheap runs </a:t>
            </a:r>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mcp-servers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tool access layer </a:t>
            </a:r>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cli-router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47 models, by cost</a:t>
            </a:r>
            <a:endParaRPr lang="en-US" sz="1500" dirty="0"/>
          </a:p>
        </p:txBody>
      </p:sp>
      <p:sp>
        <p:nvSpPr>
          <p:cNvPr id="12" name="Shape 9"/>
          <p:cNvSpPr/>
          <p:nvPr/>
        </p:nvSpPr>
        <p:spPr>
          <a:xfrm>
            <a:off x="6578561" y="5455087"/>
            <a:ext cx="5130761" cy="2819400"/>
          </a:xfrm>
          <a:prstGeom prst="roundRect">
            <a:avLst>
              <a:gd name="adj" fmla="val 4730"/>
            </a:avLst>
          </a:prstGeom>
          <a:solidFill>
            <a:srgbClr val="2A261B"/>
          </a:solidFill>
          <a:ln w="7620">
            <a:solidFill>
              <a:srgbClr val="EEECE2">
                <a:alpha val="8000"/>
              </a:srgbClr>
            </a:solidFill>
            <a:prstDash val="solid"/>
          </a:ln>
        </p:spPr>
      </p:sp>
      <p:sp>
        <p:nvSpPr>
          <p:cNvPr id="13" name="Text 10"/>
          <p:cNvSpPr/>
          <p:nvPr/>
        </p:nvSpPr>
        <p:spPr>
          <a:xfrm>
            <a:off x="6890981" y="5767507"/>
            <a:ext cx="4641098" cy="213360"/>
          </a:xfrm>
          <a:prstGeom prst="rect">
            <a:avLst/>
          </a:prstGeom>
          <a:noFill/>
          <a:ln/>
        </p:spPr>
        <p:txBody>
          <a:bodyPr wrap="square" lIns="25400" tIns="25400" rIns="25400" bIns="25400" rtlCol="0" anchor="t">
            <a:normAutofit/>
          </a:bodyPr>
          <a:lstStyle/>
          <a:p>
            <a:pPr algn="l" indent="0" marL="0">
              <a:buNone/>
            </a:pPr>
            <a:r>
              <a:rPr lang="en-US" sz="1050" spc="135" kern="0" dirty="0">
                <a:solidFill>
                  <a:srgbClr val="B85F3F"/>
                </a:solidFill>
                <a:latin typeface="JetBrains Mono" pitchFamily="34" charset="0"/>
                <a:ea typeface="JetBrains Mono" pitchFamily="34" charset="-122"/>
                <a:cs typeface="JetBrains Mono" pitchFamily="34" charset="-120"/>
              </a:rPr>
              <a:t>▌ INFRASTRUCTURE</a:t>
            </a:r>
            <a:endParaRPr lang="en-US" sz="1050" dirty="0"/>
          </a:p>
        </p:txBody>
      </p:sp>
      <p:sp>
        <p:nvSpPr>
          <p:cNvPr id="14" name="Text 11"/>
          <p:cNvSpPr/>
          <p:nvPr/>
        </p:nvSpPr>
        <p:spPr>
          <a:xfrm>
            <a:off x="6890981" y="6076117"/>
            <a:ext cx="4641098" cy="495300"/>
          </a:xfrm>
          <a:prstGeom prst="rect">
            <a:avLst/>
          </a:prstGeom>
          <a:noFill/>
          <a:ln/>
        </p:spPr>
        <p:txBody>
          <a:bodyPr wrap="square" lIns="25400" tIns="25400" rIns="25400" bIns="25400" rtlCol="0" anchor="t">
            <a:normAutofit/>
          </a:bodyPr>
          <a:lstStyle/>
          <a:p>
            <a:pPr algn="l" indent="0" marL="0">
              <a:buNone/>
            </a:pPr>
            <a:r>
              <a:rPr lang="en-US" sz="2400" b="1" spc="-29" kern="0" dirty="0">
                <a:solidFill>
                  <a:srgbClr val="EEECE2"/>
                </a:solidFill>
                <a:latin typeface="Poppins" pitchFamily="34" charset="0"/>
                <a:ea typeface="Poppins" pitchFamily="34" charset="-122"/>
                <a:cs typeface="Poppins" pitchFamily="34" charset="-120"/>
              </a:rPr>
              <a:t>Cloud + edge</a:t>
            </a:r>
            <a:endParaRPr lang="en-US" sz="2400" dirty="0"/>
          </a:p>
        </p:txBody>
      </p:sp>
      <p:sp>
        <p:nvSpPr>
          <p:cNvPr id="15" name="Text 12"/>
          <p:cNvSpPr/>
          <p:nvPr/>
        </p:nvSpPr>
        <p:spPr>
          <a:xfrm>
            <a:off x="6890981" y="6666667"/>
            <a:ext cx="4641098" cy="1333500"/>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cloudflare-access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zero-trust auth </a:t>
            </a:r>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postgres + pgvector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memory layer </a:t>
            </a:r>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redis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task queue </a:t>
            </a:r>
            <a:pPr algn="l" indent="0" marL="0">
              <a:lnSpc>
                <a:spcPct val="170000"/>
              </a:lnSpc>
              <a:buNone/>
            </a:pPr>
            <a:r>
              <a:rPr lang="en-US" sz="1350" dirty="0">
                <a:solidFill>
                  <a:srgbClr val="DA7756"/>
                </a:solidFill>
                <a:latin typeface="JetBrains Mono" pitchFamily="34" charset="0"/>
                <a:ea typeface="JetBrains Mono" pitchFamily="34" charset="-122"/>
                <a:cs typeface="JetBrains Mono" pitchFamily="34" charset="-120"/>
              </a:rPr>
              <a:t>1 vps </a:t>
            </a:r>
            <a:pPr algn="l" indent="0" marL="0">
              <a:lnSpc>
                <a:spcPct val="170000"/>
              </a:lnSpc>
              <a:buNone/>
            </a:pPr>
            <a:r>
              <a:rPr lang="en-US" sz="1500" dirty="0">
                <a:solidFill>
                  <a:srgbClr val="EEECE2">
                    <a:alpha val="70000"/>
                  </a:srgbClr>
                </a:solidFill>
                <a:latin typeface="DM Sans" pitchFamily="34" charset="0"/>
                <a:ea typeface="DM Sans" pitchFamily="34" charset="-122"/>
                <a:cs typeface="DM Sans" pitchFamily="34" charset="-120"/>
              </a:rPr>
              <a:t>— yes, just one</a:t>
            </a:r>
            <a:endParaRPr lang="en-US" sz="1500" dirty="0"/>
          </a:p>
        </p:txBody>
      </p:sp>
      <p:sp>
        <p:nvSpPr>
          <p:cNvPr id="16" name="Shape 13"/>
          <p:cNvSpPr/>
          <p:nvPr/>
        </p:nvSpPr>
        <p:spPr>
          <a:xfrm>
            <a:off x="12014121" y="5455087"/>
            <a:ext cx="5130761" cy="2819400"/>
          </a:xfrm>
          <a:prstGeom prst="roundRect">
            <a:avLst>
              <a:gd name="adj" fmla="val 4730"/>
            </a:avLst>
          </a:prstGeom>
          <a:solidFill>
            <a:srgbClr val="DA7756"/>
          </a:solidFill>
          <a:ln w="7620">
            <a:solidFill>
              <a:srgbClr val="DA7756"/>
            </a:solidFill>
            <a:prstDash val="solid"/>
          </a:ln>
        </p:spPr>
      </p:sp>
      <p:sp>
        <p:nvSpPr>
          <p:cNvPr id="17" name="Text 14"/>
          <p:cNvSpPr/>
          <p:nvPr/>
        </p:nvSpPr>
        <p:spPr>
          <a:xfrm>
            <a:off x="12326541" y="5767507"/>
            <a:ext cx="4641098" cy="213360"/>
          </a:xfrm>
          <a:prstGeom prst="rect">
            <a:avLst/>
          </a:prstGeom>
          <a:noFill/>
          <a:ln/>
        </p:spPr>
        <p:txBody>
          <a:bodyPr wrap="square" lIns="25400" tIns="25400" rIns="25400" bIns="25400" rtlCol="0" anchor="t">
            <a:normAutofit/>
          </a:bodyPr>
          <a:lstStyle/>
          <a:p>
            <a:pPr algn="l" indent="0" marL="0">
              <a:buNone/>
            </a:pPr>
            <a:r>
              <a:rPr lang="en-US" sz="1050" spc="135" kern="0" dirty="0">
                <a:solidFill>
                  <a:srgbClr val="2A261B">
                    <a:alpha val="70000"/>
                  </a:srgbClr>
                </a:solidFill>
                <a:latin typeface="JetBrains Mono" pitchFamily="34" charset="0"/>
                <a:ea typeface="JetBrains Mono" pitchFamily="34" charset="-122"/>
                <a:cs typeface="JetBrains Mono" pitchFamily="34" charset="-120"/>
              </a:rPr>
              <a:t>▌ OBSERVABILITY</a:t>
            </a:r>
            <a:endParaRPr lang="en-US" sz="1050" dirty="0"/>
          </a:p>
        </p:txBody>
      </p:sp>
      <p:sp>
        <p:nvSpPr>
          <p:cNvPr id="18" name="Text 15"/>
          <p:cNvSpPr/>
          <p:nvPr/>
        </p:nvSpPr>
        <p:spPr>
          <a:xfrm>
            <a:off x="12326541" y="6076117"/>
            <a:ext cx="4641098" cy="495300"/>
          </a:xfrm>
          <a:prstGeom prst="rect">
            <a:avLst/>
          </a:prstGeom>
          <a:noFill/>
          <a:ln/>
        </p:spPr>
        <p:txBody>
          <a:bodyPr wrap="square" lIns="25400" tIns="25400" rIns="25400" bIns="25400" rtlCol="0" anchor="t">
            <a:normAutofit/>
          </a:bodyPr>
          <a:lstStyle/>
          <a:p>
            <a:pPr algn="l" indent="0" marL="0">
              <a:buNone/>
            </a:pPr>
            <a:r>
              <a:rPr lang="en-US" sz="2400" b="1" spc="-29" kern="0" dirty="0">
                <a:solidFill>
                  <a:srgbClr val="3D3929"/>
                </a:solidFill>
                <a:latin typeface="Poppins" pitchFamily="34" charset="0"/>
                <a:ea typeface="Poppins" pitchFamily="34" charset="-122"/>
                <a:cs typeface="Poppins" pitchFamily="34" charset="-120"/>
              </a:rPr>
              <a:t>Proof, in real time</a:t>
            </a:r>
            <a:endParaRPr lang="en-US" sz="2400" dirty="0"/>
          </a:p>
        </p:txBody>
      </p:sp>
      <p:sp>
        <p:nvSpPr>
          <p:cNvPr id="19" name="Text 16"/>
          <p:cNvSpPr/>
          <p:nvPr/>
        </p:nvSpPr>
        <p:spPr>
          <a:xfrm>
            <a:off x="12326541" y="6666667"/>
            <a:ext cx="4641098" cy="1333500"/>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2A261B"/>
                </a:solidFill>
                <a:latin typeface="JetBrains Mono" pitchFamily="34" charset="0"/>
                <a:ea typeface="JetBrains Mono" pitchFamily="34" charset="-122"/>
                <a:cs typeface="JetBrains Mono" pitchFamily="34" charset="-120"/>
              </a:rPr>
              <a:t>grafana </a:t>
            </a:r>
            <a:pPr algn="l" indent="0" marL="0">
              <a:lnSpc>
                <a:spcPct val="170000"/>
              </a:lnSpc>
              <a:buNone/>
            </a:pPr>
            <a:r>
              <a:rPr lang="en-US" sz="1500" dirty="0">
                <a:solidFill>
                  <a:srgbClr val="3D3929"/>
                </a:solidFill>
                <a:latin typeface="DM Sans" pitchFamily="34" charset="0"/>
                <a:ea typeface="DM Sans" pitchFamily="34" charset="-122"/>
                <a:cs typeface="DM Sans" pitchFamily="34" charset="-120"/>
              </a:rPr>
              <a:t>— every metric on this deck </a:t>
            </a:r>
            <a:pPr algn="l" indent="0" marL="0">
              <a:lnSpc>
                <a:spcPct val="170000"/>
              </a:lnSpc>
              <a:buNone/>
            </a:pPr>
            <a:r>
              <a:rPr lang="en-US" sz="1350" dirty="0">
                <a:solidFill>
                  <a:srgbClr val="2A261B"/>
                </a:solidFill>
                <a:latin typeface="JetBrains Mono" pitchFamily="34" charset="0"/>
                <a:ea typeface="JetBrains Mono" pitchFamily="34" charset="-122"/>
                <a:cs typeface="JetBrains Mono" pitchFamily="34" charset="-120"/>
              </a:rPr>
              <a:t>loki </a:t>
            </a:r>
            <a:pPr algn="l" indent="0" marL="0">
              <a:lnSpc>
                <a:spcPct val="170000"/>
              </a:lnSpc>
              <a:buNone/>
            </a:pPr>
            <a:r>
              <a:rPr lang="en-US" sz="1500" dirty="0">
                <a:solidFill>
                  <a:srgbClr val="3D3929"/>
                </a:solidFill>
                <a:latin typeface="DM Sans" pitchFamily="34" charset="0"/>
                <a:ea typeface="DM Sans" pitchFamily="34" charset="-122"/>
                <a:cs typeface="DM Sans" pitchFamily="34" charset="-120"/>
              </a:rPr>
              <a:t>— full worker logs · 90 days </a:t>
            </a:r>
            <a:pPr algn="l" indent="0" marL="0">
              <a:lnSpc>
                <a:spcPct val="170000"/>
              </a:lnSpc>
              <a:buNone/>
            </a:pPr>
            <a:r>
              <a:rPr lang="en-US" sz="1350" dirty="0">
                <a:solidFill>
                  <a:srgbClr val="2A261B"/>
                </a:solidFill>
                <a:latin typeface="JetBrains Mono" pitchFamily="34" charset="0"/>
                <a:ea typeface="JetBrains Mono" pitchFamily="34" charset="-122"/>
                <a:cs typeface="JetBrains Mono" pitchFamily="34" charset="-120"/>
              </a:rPr>
              <a:t>tempo </a:t>
            </a:r>
            <a:pPr algn="l" indent="0" marL="0">
              <a:lnSpc>
                <a:spcPct val="170000"/>
              </a:lnSpc>
              <a:buNone/>
            </a:pPr>
            <a:r>
              <a:rPr lang="en-US" sz="1500" dirty="0">
                <a:solidFill>
                  <a:srgbClr val="3D3929"/>
                </a:solidFill>
                <a:latin typeface="DM Sans" pitchFamily="34" charset="0"/>
                <a:ea typeface="DM Sans" pitchFamily="34" charset="-122"/>
                <a:cs typeface="DM Sans" pitchFamily="34" charset="-120"/>
              </a:rPr>
              <a:t>— A2A traces · 741 ms </a:t>
            </a:r>
            <a:pPr algn="l" indent="0" marL="0">
              <a:lnSpc>
                <a:spcPct val="170000"/>
              </a:lnSpc>
              <a:buNone/>
            </a:pPr>
            <a:r>
              <a:rPr lang="en-US" sz="1350" dirty="0">
                <a:solidFill>
                  <a:srgbClr val="2A261B"/>
                </a:solidFill>
                <a:latin typeface="JetBrains Mono" pitchFamily="34" charset="0"/>
                <a:ea typeface="JetBrains Mono" pitchFamily="34" charset="-122"/>
                <a:cs typeface="JetBrains Mono" pitchFamily="34" charset="-120"/>
              </a:rPr>
              <a:t>prometheus </a:t>
            </a:r>
            <a:pPr algn="l" indent="0" marL="0">
              <a:lnSpc>
                <a:spcPct val="170000"/>
              </a:lnSpc>
              <a:buNone/>
            </a:pPr>
            <a:r>
              <a:rPr lang="en-US" sz="1500" dirty="0">
                <a:solidFill>
                  <a:srgbClr val="3D3929"/>
                </a:solidFill>
                <a:latin typeface="DM Sans" pitchFamily="34" charset="0"/>
                <a:ea typeface="DM Sans" pitchFamily="34" charset="-122"/>
                <a:cs typeface="DM Sans" pitchFamily="34" charset="-120"/>
              </a:rPr>
              <a:t>— alerts, no SaaS</a:t>
            </a:r>
            <a:endParaRPr lang="en-US" sz="1500" dirty="0"/>
          </a:p>
        </p:txBody>
      </p:sp>
      <p:sp>
        <p:nvSpPr>
          <p:cNvPr id="20" name="Text 17"/>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SYPNOSE.CLOUD</a:t>
            </a:r>
            <a:endParaRPr lang="en-US" sz="1200" dirty="0"/>
          </a:p>
        </p:txBody>
      </p:sp>
      <p:sp>
        <p:nvSpPr>
          <p:cNvPr id="21" name="Text 18"/>
          <p:cNvSpPr/>
          <p:nvPr/>
        </p:nvSpPr>
        <p:spPr>
          <a:xfrm>
            <a:off x="14673024" y="9631680"/>
            <a:ext cx="2938565"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BORING TECH IS THE POINT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5252502" y="502920"/>
            <a:ext cx="234969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11 / 15 · PRICING</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11 — THREE TIERS</a:t>
            </a:r>
            <a:endParaRPr lang="en-US" sz="1500" dirty="0"/>
          </a:p>
        </p:txBody>
      </p:sp>
      <p:sp>
        <p:nvSpPr>
          <p:cNvPr id="6" name="Text 3"/>
          <p:cNvSpPr/>
          <p:nvPr/>
        </p:nvSpPr>
        <p:spPr>
          <a:xfrm>
            <a:off x="1143000" y="2049780"/>
            <a:ext cx="16482060" cy="113538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Free. Business. Enterprise.</a:t>
            </a:r>
            <a:endParaRPr lang="en-US" sz="9000" dirty="0"/>
          </a:p>
        </p:txBody>
      </p:sp>
      <p:sp>
        <p:nvSpPr>
          <p:cNvPr id="7" name="Shape 4"/>
          <p:cNvSpPr/>
          <p:nvPr/>
        </p:nvSpPr>
        <p:spPr>
          <a:xfrm>
            <a:off x="1143000" y="3718560"/>
            <a:ext cx="5130761" cy="4907280"/>
          </a:xfrm>
          <a:prstGeom prst="roundRect">
            <a:avLst>
              <a:gd name="adj" fmla="val 3494"/>
            </a:avLst>
          </a:prstGeom>
          <a:solidFill>
            <a:srgbClr val="EEECE2"/>
          </a:solidFill>
          <a:ln w="15240">
            <a:solidFill>
              <a:srgbClr val="3D3929"/>
            </a:solidFill>
            <a:prstDash val="solid"/>
          </a:ln>
        </p:spPr>
      </p:sp>
      <p:sp>
        <p:nvSpPr>
          <p:cNvPr id="8" name="Text 5"/>
          <p:cNvSpPr/>
          <p:nvPr/>
        </p:nvSpPr>
        <p:spPr>
          <a:xfrm>
            <a:off x="1501140" y="4152900"/>
            <a:ext cx="4546915" cy="21336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B85F3F"/>
                </a:solidFill>
                <a:latin typeface="JetBrains Mono" pitchFamily="34" charset="0"/>
                <a:ea typeface="JetBrains Mono" pitchFamily="34" charset="-122"/>
                <a:cs typeface="JetBrains Mono" pitchFamily="34" charset="-120"/>
              </a:rPr>
              <a:t>▌ TIER 01</a:t>
            </a:r>
            <a:endParaRPr lang="en-US" sz="1050" dirty="0"/>
          </a:p>
        </p:txBody>
      </p:sp>
      <p:sp>
        <p:nvSpPr>
          <p:cNvPr id="9" name="Text 6"/>
          <p:cNvSpPr/>
          <p:nvPr/>
        </p:nvSpPr>
        <p:spPr>
          <a:xfrm>
            <a:off x="1501140" y="4499610"/>
            <a:ext cx="4546915"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101" kern="0" dirty="0">
                <a:solidFill>
                  <a:srgbClr val="3D3929"/>
                </a:solidFill>
                <a:latin typeface="Poppins" pitchFamily="34" charset="0"/>
                <a:ea typeface="Poppins" pitchFamily="34" charset="-122"/>
                <a:cs typeface="Poppins" pitchFamily="34" charset="-120"/>
              </a:rPr>
              <a:t>Free</a:t>
            </a:r>
            <a:endParaRPr lang="en-US" sz="4050" dirty="0"/>
          </a:p>
        </p:txBody>
      </p:sp>
      <p:sp>
        <p:nvSpPr>
          <p:cNvPr id="10" name="Text 7"/>
          <p:cNvSpPr/>
          <p:nvPr/>
        </p:nvSpPr>
        <p:spPr>
          <a:xfrm>
            <a:off x="1501140" y="5185410"/>
            <a:ext cx="1028700"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spc="-180" kern="0" dirty="0">
                <a:solidFill>
                  <a:srgbClr val="3D3929"/>
                </a:solidFill>
                <a:latin typeface="Poppins" pitchFamily="34" charset="0"/>
                <a:ea typeface="Poppins" pitchFamily="34" charset="-122"/>
                <a:cs typeface="Poppins" pitchFamily="34" charset="-120"/>
              </a:rPr>
              <a:t>$0</a:t>
            </a:r>
            <a:endParaRPr lang="en-US" sz="6000" dirty="0"/>
          </a:p>
        </p:txBody>
      </p:sp>
      <p:sp>
        <p:nvSpPr>
          <p:cNvPr id="11" name="Text 8"/>
          <p:cNvSpPr/>
          <p:nvPr/>
        </p:nvSpPr>
        <p:spPr>
          <a:xfrm>
            <a:off x="2529840" y="5680710"/>
            <a:ext cx="2190750" cy="236220"/>
          </a:xfrm>
          <a:prstGeom prst="rect">
            <a:avLst/>
          </a:prstGeom>
          <a:noFill/>
          <a:ln/>
        </p:spPr>
        <p:txBody>
          <a:bodyPr wrap="square" lIns="25400" tIns="25400" rIns="25400" bIns="25400" rtlCol="0" anchor="t">
            <a:normAutofit/>
          </a:bodyPr>
          <a:lstStyle/>
          <a:p>
            <a:pPr algn="l" indent="0" marL="0">
              <a:buNone/>
            </a:pPr>
            <a:r>
              <a:rPr lang="en-US" sz="1200" spc="113" kern="0" dirty="0">
                <a:solidFill>
                  <a:srgbClr val="8A8472"/>
                </a:solidFill>
                <a:latin typeface="JetBrains Mono" pitchFamily="34" charset="0"/>
                <a:ea typeface="JetBrains Mono" pitchFamily="34" charset="-122"/>
                <a:cs typeface="JetBrains Mono" pitchFamily="34" charset="-120"/>
              </a:rPr>
              <a:t>/ FOREVER · BYO KEYS</a:t>
            </a:r>
            <a:endParaRPr lang="en-US" sz="1200" dirty="0"/>
          </a:p>
        </p:txBody>
      </p:sp>
      <p:sp>
        <p:nvSpPr>
          <p:cNvPr id="12" name="Text 9"/>
          <p:cNvSpPr/>
          <p:nvPr/>
        </p:nvSpPr>
        <p:spPr>
          <a:xfrm>
            <a:off x="1367790" y="6195060"/>
            <a:ext cx="4624030" cy="19050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Up to 300 workers, your tokens</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Full memory layer · 4-year</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All 47 models · routed locally</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MIT license · github.com/sypnose-cloud</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Community Discord</a:t>
            </a:r>
            <a:endParaRPr lang="en-US" sz="1500" dirty="0"/>
          </a:p>
        </p:txBody>
      </p:sp>
      <p:sp>
        <p:nvSpPr>
          <p:cNvPr id="13" name="Shape 10"/>
          <p:cNvSpPr/>
          <p:nvPr/>
        </p:nvSpPr>
        <p:spPr>
          <a:xfrm>
            <a:off x="6578561" y="3432810"/>
            <a:ext cx="5130761" cy="4907280"/>
          </a:xfrm>
          <a:prstGeom prst="roundRect">
            <a:avLst>
              <a:gd name="adj" fmla="val 3494"/>
            </a:avLst>
          </a:prstGeom>
          <a:solidFill>
            <a:srgbClr val="3D3929"/>
          </a:solidFill>
          <a:ln w="15240">
            <a:solidFill>
              <a:srgbClr val="3D3929"/>
            </a:solidFill>
            <a:prstDash val="solid"/>
          </a:ln>
        </p:spPr>
      </p:sp>
      <p:sp>
        <p:nvSpPr>
          <p:cNvPr id="14" name="Shape 11"/>
          <p:cNvSpPr/>
          <p:nvPr/>
        </p:nvSpPr>
        <p:spPr>
          <a:xfrm>
            <a:off x="10062806" y="3276600"/>
            <a:ext cx="1288375" cy="335280"/>
          </a:xfrm>
          <a:prstGeom prst="roundRect">
            <a:avLst>
              <a:gd name="adj" fmla="val 11364"/>
            </a:avLst>
          </a:prstGeom>
          <a:solidFill>
            <a:srgbClr val="DA7756"/>
          </a:solidFill>
          <a:ln/>
        </p:spPr>
      </p:sp>
      <p:sp>
        <p:nvSpPr>
          <p:cNvPr id="15" name="Text 12"/>
          <p:cNvSpPr/>
          <p:nvPr/>
        </p:nvSpPr>
        <p:spPr>
          <a:xfrm>
            <a:off x="10196156" y="3352800"/>
            <a:ext cx="1097875" cy="220980"/>
          </a:xfrm>
          <a:prstGeom prst="rect">
            <a:avLst/>
          </a:prstGeom>
          <a:noFill/>
          <a:ln/>
        </p:spPr>
        <p:txBody>
          <a:bodyPr wrap="square" lIns="25400" tIns="25400" rIns="25400" bIns="25400" rtlCol="0" anchor="t">
            <a:normAutofit/>
          </a:bodyPr>
          <a:lstStyle/>
          <a:p>
            <a:pPr algn="l" indent="0" marL="0">
              <a:buNone/>
            </a:pPr>
            <a:r>
              <a:rPr lang="en-US" sz="1050" b="1" spc="150" kern="0" dirty="0">
                <a:solidFill>
                  <a:srgbClr val="3D3929"/>
                </a:solidFill>
                <a:latin typeface="JetBrains Mono" pitchFamily="34" charset="0"/>
                <a:ea typeface="JetBrains Mono" pitchFamily="34" charset="-122"/>
                <a:cs typeface="JetBrains Mono" pitchFamily="34" charset="-120"/>
              </a:rPr>
              <a:t>★ BEST FIT</a:t>
            </a:r>
            <a:endParaRPr lang="en-US" sz="1050" dirty="0"/>
          </a:p>
        </p:txBody>
      </p:sp>
      <p:sp>
        <p:nvSpPr>
          <p:cNvPr id="16" name="Text 13"/>
          <p:cNvSpPr/>
          <p:nvPr/>
        </p:nvSpPr>
        <p:spPr>
          <a:xfrm>
            <a:off x="6936700" y="3867150"/>
            <a:ext cx="4546915" cy="21336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DA7756"/>
                </a:solidFill>
                <a:latin typeface="JetBrains Mono" pitchFamily="34" charset="0"/>
                <a:ea typeface="JetBrains Mono" pitchFamily="34" charset="-122"/>
                <a:cs typeface="JetBrains Mono" pitchFamily="34" charset="-120"/>
              </a:rPr>
              <a:t>▌ TIER 02</a:t>
            </a:r>
            <a:endParaRPr lang="en-US" sz="1050" dirty="0"/>
          </a:p>
        </p:txBody>
      </p:sp>
      <p:sp>
        <p:nvSpPr>
          <p:cNvPr id="17" name="Text 14"/>
          <p:cNvSpPr/>
          <p:nvPr/>
        </p:nvSpPr>
        <p:spPr>
          <a:xfrm>
            <a:off x="6936700" y="4213860"/>
            <a:ext cx="4546915"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101" kern="0" dirty="0">
                <a:solidFill>
                  <a:srgbClr val="EEECE2"/>
                </a:solidFill>
                <a:latin typeface="Poppins" pitchFamily="34" charset="0"/>
                <a:ea typeface="Poppins" pitchFamily="34" charset="-122"/>
                <a:cs typeface="Poppins" pitchFamily="34" charset="-120"/>
              </a:rPr>
              <a:t>Business</a:t>
            </a:r>
            <a:endParaRPr lang="en-US" sz="4050" dirty="0"/>
          </a:p>
        </p:txBody>
      </p:sp>
      <p:sp>
        <p:nvSpPr>
          <p:cNvPr id="18" name="Text 15"/>
          <p:cNvSpPr/>
          <p:nvPr/>
        </p:nvSpPr>
        <p:spPr>
          <a:xfrm>
            <a:off x="6936700" y="4899660"/>
            <a:ext cx="2603778"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spc="-180" kern="0" dirty="0">
                <a:solidFill>
                  <a:srgbClr val="DA7756"/>
                </a:solidFill>
                <a:latin typeface="Poppins" pitchFamily="34" charset="0"/>
                <a:ea typeface="Poppins" pitchFamily="34" charset="-122"/>
                <a:cs typeface="Poppins" pitchFamily="34" charset="-120"/>
              </a:rPr>
              <a:t>$2,400</a:t>
            </a:r>
            <a:endParaRPr lang="en-US" sz="6000" dirty="0"/>
          </a:p>
        </p:txBody>
      </p:sp>
      <p:sp>
        <p:nvSpPr>
          <p:cNvPr id="19" name="Text 16"/>
          <p:cNvSpPr/>
          <p:nvPr/>
        </p:nvSpPr>
        <p:spPr>
          <a:xfrm>
            <a:off x="9540478" y="5394960"/>
            <a:ext cx="1873567" cy="236220"/>
          </a:xfrm>
          <a:prstGeom prst="rect">
            <a:avLst/>
          </a:prstGeom>
          <a:noFill/>
          <a:ln/>
        </p:spPr>
        <p:txBody>
          <a:bodyPr wrap="square" lIns="25400" tIns="25400" rIns="25400" bIns="25400" rtlCol="0" anchor="t">
            <a:normAutofit/>
          </a:bodyPr>
          <a:lstStyle/>
          <a:p>
            <a:pPr algn="l" indent="0" marL="0">
              <a:buNone/>
            </a:pPr>
            <a:r>
              <a:rPr lang="en-US" sz="1200" spc="113" kern="0" dirty="0">
                <a:solidFill>
                  <a:srgbClr val="EEECE2">
                    <a:alpha val="50000"/>
                  </a:srgbClr>
                </a:solidFill>
                <a:latin typeface="JetBrains Mono" pitchFamily="34" charset="0"/>
                <a:ea typeface="JetBrains Mono" pitchFamily="34" charset="-122"/>
                <a:cs typeface="JetBrains Mono" pitchFamily="34" charset="-120"/>
              </a:rPr>
              <a:t>/ MONTH · 5 SEATS</a:t>
            </a:r>
            <a:endParaRPr lang="en-US" sz="1200" dirty="0"/>
          </a:p>
        </p:txBody>
      </p:sp>
      <p:sp>
        <p:nvSpPr>
          <p:cNvPr id="20" name="Text 17"/>
          <p:cNvSpPr/>
          <p:nvPr/>
        </p:nvSpPr>
        <p:spPr>
          <a:xfrm>
            <a:off x="6803350" y="5909310"/>
            <a:ext cx="4624030" cy="19050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EEECE2"/>
                </a:solidFill>
                <a:latin typeface="DM Sans" pitchFamily="34" charset="0"/>
                <a:ea typeface="DM Sans" pitchFamily="34" charset="-122"/>
                <a:cs typeface="DM Sans" pitchFamily="34" charset="-120"/>
              </a:rPr>
              <a:t>Our compute · 95% free-tier routed</a:t>
            </a:r>
            <a:endParaRPr lang="en-US" sz="1500" dirty="0"/>
          </a:p>
          <a:p>
            <a:pPr algn="l" indent="0" marL="0">
              <a:lnSpc>
                <a:spcPct val="140000"/>
              </a:lnSpc>
              <a:buNone/>
            </a:pPr>
            <a:r>
              <a:rPr lang="en-US" sz="1500" dirty="0">
                <a:solidFill>
                  <a:srgbClr val="EEECE2"/>
                </a:solidFill>
                <a:latin typeface="DM Sans" pitchFamily="34" charset="0"/>
                <a:ea typeface="DM Sans" pitchFamily="34" charset="-122"/>
                <a:cs typeface="DM Sans" pitchFamily="34" charset="-120"/>
              </a:rPr>
              <a:t>Hosted memory + Grafana dashboards</a:t>
            </a:r>
            <a:endParaRPr lang="en-US" sz="1500" dirty="0"/>
          </a:p>
          <a:p>
            <a:pPr algn="l" indent="0" marL="0">
              <a:lnSpc>
                <a:spcPct val="140000"/>
              </a:lnSpc>
              <a:buNone/>
            </a:pPr>
            <a:r>
              <a:rPr lang="en-US" sz="1500" dirty="0">
                <a:solidFill>
                  <a:srgbClr val="EEECE2"/>
                </a:solidFill>
                <a:latin typeface="DM Sans" pitchFamily="34" charset="0"/>
                <a:ea typeface="DM Sans" pitchFamily="34" charset="-122"/>
                <a:cs typeface="DM Sans" pitchFamily="34" charset="-120"/>
              </a:rPr>
              <a:t>Overnight build queue · 9 agents</a:t>
            </a:r>
            <a:endParaRPr lang="en-US" sz="1500" dirty="0"/>
          </a:p>
          <a:p>
            <a:pPr algn="l" indent="0" marL="0">
              <a:lnSpc>
                <a:spcPct val="140000"/>
              </a:lnSpc>
              <a:buNone/>
            </a:pPr>
            <a:r>
              <a:rPr lang="en-US" sz="1500" dirty="0">
                <a:solidFill>
                  <a:srgbClr val="EEECE2"/>
                </a:solidFill>
                <a:latin typeface="DM Sans" pitchFamily="34" charset="0"/>
                <a:ea typeface="DM Sans" pitchFamily="34" charset="-122"/>
                <a:cs typeface="DM Sans" pitchFamily="34" charset="-120"/>
              </a:rPr>
              <a:t>Slack channel with the team</a:t>
            </a:r>
            <a:endParaRPr lang="en-US" sz="1500" dirty="0"/>
          </a:p>
          <a:p>
            <a:pPr algn="l" indent="0" marL="0">
              <a:lnSpc>
                <a:spcPct val="140000"/>
              </a:lnSpc>
              <a:buNone/>
            </a:pPr>
            <a:r>
              <a:rPr lang="en-US" sz="1500" dirty="0">
                <a:solidFill>
                  <a:srgbClr val="EEECE2"/>
                </a:solidFill>
                <a:latin typeface="DM Sans" pitchFamily="34" charset="0"/>
                <a:ea typeface="DM Sans" pitchFamily="34" charset="-122"/>
                <a:cs typeface="DM Sans" pitchFamily="34" charset="-120"/>
              </a:rPr>
              <a:t>99.9% SLA · weekly digest</a:t>
            </a:r>
            <a:endParaRPr lang="en-US" sz="1500" dirty="0"/>
          </a:p>
        </p:txBody>
      </p:sp>
      <p:sp>
        <p:nvSpPr>
          <p:cNvPr id="21" name="Shape 18"/>
          <p:cNvSpPr/>
          <p:nvPr/>
        </p:nvSpPr>
        <p:spPr>
          <a:xfrm>
            <a:off x="12014121" y="3718560"/>
            <a:ext cx="5130761" cy="4907280"/>
          </a:xfrm>
          <a:prstGeom prst="roundRect">
            <a:avLst>
              <a:gd name="adj" fmla="val 3494"/>
            </a:avLst>
          </a:prstGeom>
          <a:solidFill>
            <a:srgbClr val="EEECE2"/>
          </a:solidFill>
          <a:ln w="15240">
            <a:solidFill>
              <a:srgbClr val="3D3929"/>
            </a:solidFill>
            <a:prstDash val="solid"/>
          </a:ln>
        </p:spPr>
      </p:sp>
      <p:sp>
        <p:nvSpPr>
          <p:cNvPr id="22" name="Text 19"/>
          <p:cNvSpPr/>
          <p:nvPr/>
        </p:nvSpPr>
        <p:spPr>
          <a:xfrm>
            <a:off x="12372261" y="4152900"/>
            <a:ext cx="4546915" cy="21336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B85F3F"/>
                </a:solidFill>
                <a:latin typeface="JetBrains Mono" pitchFamily="34" charset="0"/>
                <a:ea typeface="JetBrains Mono" pitchFamily="34" charset="-122"/>
                <a:cs typeface="JetBrains Mono" pitchFamily="34" charset="-120"/>
              </a:rPr>
              <a:t>▌ TIER 03</a:t>
            </a:r>
            <a:endParaRPr lang="en-US" sz="1050" dirty="0"/>
          </a:p>
        </p:txBody>
      </p:sp>
      <p:sp>
        <p:nvSpPr>
          <p:cNvPr id="23" name="Text 20"/>
          <p:cNvSpPr/>
          <p:nvPr/>
        </p:nvSpPr>
        <p:spPr>
          <a:xfrm>
            <a:off x="12372261" y="4499610"/>
            <a:ext cx="4546915"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101" kern="0" dirty="0">
                <a:solidFill>
                  <a:srgbClr val="3D3929"/>
                </a:solidFill>
                <a:latin typeface="Poppins" pitchFamily="34" charset="0"/>
                <a:ea typeface="Poppins" pitchFamily="34" charset="-122"/>
                <a:cs typeface="Poppins" pitchFamily="34" charset="-120"/>
              </a:rPr>
              <a:t>Enterprise</a:t>
            </a:r>
            <a:endParaRPr lang="en-US" sz="4050" dirty="0"/>
          </a:p>
        </p:txBody>
      </p:sp>
      <p:sp>
        <p:nvSpPr>
          <p:cNvPr id="24" name="Text 21"/>
          <p:cNvSpPr/>
          <p:nvPr/>
        </p:nvSpPr>
        <p:spPr>
          <a:xfrm>
            <a:off x="12372261" y="5185410"/>
            <a:ext cx="3073585"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spc="-180" kern="0" dirty="0">
                <a:solidFill>
                  <a:srgbClr val="3D3929"/>
                </a:solidFill>
                <a:latin typeface="Poppins" pitchFamily="34" charset="0"/>
                <a:ea typeface="Poppins" pitchFamily="34" charset="-122"/>
                <a:cs typeface="Poppins" pitchFamily="34" charset="-120"/>
              </a:rPr>
              <a:t>Custom</a:t>
            </a:r>
            <a:endParaRPr lang="en-US" sz="6000" dirty="0"/>
          </a:p>
        </p:txBody>
      </p:sp>
      <p:sp>
        <p:nvSpPr>
          <p:cNvPr id="25" name="Text 22"/>
          <p:cNvSpPr/>
          <p:nvPr/>
        </p:nvSpPr>
        <p:spPr>
          <a:xfrm>
            <a:off x="15432524" y="5680710"/>
            <a:ext cx="1430417" cy="434340"/>
          </a:xfrm>
          <a:prstGeom prst="rect">
            <a:avLst/>
          </a:prstGeom>
          <a:noFill/>
          <a:ln/>
        </p:spPr>
        <p:txBody>
          <a:bodyPr wrap="square" lIns="25400" tIns="25400" rIns="25400" bIns="25400" rtlCol="0" anchor="t">
            <a:normAutofit/>
          </a:bodyPr>
          <a:lstStyle/>
          <a:p>
            <a:pPr algn="l" indent="0" marL="0">
              <a:buNone/>
            </a:pPr>
            <a:r>
              <a:rPr lang="en-US" sz="1200" spc="113" kern="0" dirty="0">
                <a:solidFill>
                  <a:srgbClr val="8A8472"/>
                </a:solidFill>
                <a:latin typeface="JetBrains Mono" pitchFamily="34" charset="0"/>
                <a:ea typeface="JetBrains Mono" pitchFamily="34" charset="-122"/>
                <a:cs typeface="JetBrains Mono" pitchFamily="34" charset="-120"/>
              </a:rPr>
              <a:t>/ ANNUAL · VPC</a:t>
            </a:r>
            <a:endParaRPr lang="en-US" sz="1200" dirty="0"/>
          </a:p>
        </p:txBody>
      </p:sp>
      <p:sp>
        <p:nvSpPr>
          <p:cNvPr id="26" name="Text 23"/>
          <p:cNvSpPr/>
          <p:nvPr/>
        </p:nvSpPr>
        <p:spPr>
          <a:xfrm>
            <a:off x="12238911" y="6324600"/>
            <a:ext cx="4624030" cy="19050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Deployed in your VPC</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SOC 2 paper trail · SSO · audit</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Your retention · your providers</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Dedicated architect</a:t>
            </a:r>
            <a:endParaRPr lang="en-US" sz="1500" dirty="0"/>
          </a:p>
          <a:p>
            <a:pPr algn="l" indent="0" marL="0">
              <a:lnSpc>
                <a:spcPct val="140000"/>
              </a:lnSpc>
              <a:buNone/>
            </a:pPr>
            <a:r>
              <a:rPr lang="en-US" sz="1500" dirty="0">
                <a:solidFill>
                  <a:srgbClr val="5A5443"/>
                </a:solidFill>
                <a:latin typeface="DM Sans" pitchFamily="34" charset="0"/>
                <a:ea typeface="DM Sans" pitchFamily="34" charset="-122"/>
                <a:cs typeface="DM Sans" pitchFamily="34" charset="-120"/>
              </a:rPr>
              <a:t>White-glove POC · 6h free</a:t>
            </a:r>
            <a:endParaRPr lang="en-US" sz="1500" dirty="0"/>
          </a:p>
        </p:txBody>
      </p:sp>
      <p:sp>
        <p:nvSpPr>
          <p:cNvPr id="27" name="Text 24"/>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28" name="Text 25"/>
          <p:cNvSpPr/>
          <p:nvPr/>
        </p:nvSpPr>
        <p:spPr>
          <a:xfrm>
            <a:off x="12652177" y="9631680"/>
            <a:ext cx="5020038"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NO HIDDEN SEATS · NO PER-TOKEN SURCHARGES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4316432" y="502920"/>
            <a:ext cx="3305855"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12 / 15 · TIER 01 · FREE</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12 — AGENT FREE</a:t>
            </a:r>
            <a:endParaRPr lang="en-US" sz="1500" dirty="0"/>
          </a:p>
        </p:txBody>
      </p:sp>
      <p:sp>
        <p:nvSpPr>
          <p:cNvPr id="6" name="Text 3"/>
          <p:cNvSpPr/>
          <p:nvPr/>
        </p:nvSpPr>
        <p:spPr>
          <a:xfrm>
            <a:off x="1143000" y="2164080"/>
            <a:ext cx="8222267"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For the solo builder.</a:t>
            </a:r>
            <a:endParaRPr lang="en-US" sz="9000" dirty="0"/>
          </a:p>
        </p:txBody>
      </p:sp>
      <p:sp>
        <p:nvSpPr>
          <p:cNvPr id="7" name="Text 4"/>
          <p:cNvSpPr/>
          <p:nvPr/>
        </p:nvSpPr>
        <p:spPr>
          <a:xfrm>
            <a:off x="1143000" y="4625340"/>
            <a:ext cx="8222267" cy="1622227"/>
          </a:xfrm>
          <a:prstGeom prst="rect">
            <a:avLst/>
          </a:prstGeom>
          <a:noFill/>
          <a:ln/>
        </p:spPr>
        <p:txBody>
          <a:bodyPr wrap="square" lIns="25400" tIns="25400" rIns="25400" bIns="25400" rtlCol="0" anchor="t">
            <a:normAutofit/>
          </a:bodyPr>
          <a:lstStyle/>
          <a:p>
            <a:pPr algn="l" indent="0" marL="0">
              <a:lnSpc>
                <a:spcPct val="132000"/>
              </a:lnSpc>
              <a:buNone/>
            </a:pPr>
            <a:r>
              <a:rPr lang="en-US" sz="3150" i="1" dirty="0">
                <a:solidFill>
                  <a:srgbClr val="3D3929">
                    <a:alpha val="70000"/>
                  </a:srgbClr>
                </a:solidFill>
                <a:latin typeface="Lora" pitchFamily="34" charset="0"/>
                <a:ea typeface="Lora" pitchFamily="34" charset="-122"/>
                <a:cs typeface="Lora" pitchFamily="34" charset="-120"/>
              </a:rPr>
              <a:t>Bring your own API keys. We bring the orchestrator, the memory, and the entire 47-model router. Zero dollars. Forever.</a:t>
            </a:r>
            <a:endParaRPr lang="en-US" sz="3150" dirty="0"/>
          </a:p>
        </p:txBody>
      </p:sp>
      <p:sp>
        <p:nvSpPr>
          <p:cNvPr id="8" name="Text 5"/>
          <p:cNvSpPr/>
          <p:nvPr/>
        </p:nvSpPr>
        <p:spPr>
          <a:xfrm>
            <a:off x="1143000" y="6514267"/>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01</a:t>
            </a:r>
            <a:endParaRPr lang="en-US" sz="1650" dirty="0"/>
          </a:p>
        </p:txBody>
      </p:sp>
      <p:sp>
        <p:nvSpPr>
          <p:cNvPr id="9" name="Text 6"/>
          <p:cNvSpPr/>
          <p:nvPr/>
        </p:nvSpPr>
        <p:spPr>
          <a:xfrm>
            <a:off x="1847850" y="6514267"/>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One-line install</a:t>
            </a:r>
            <a:endParaRPr lang="en-US" sz="2100" dirty="0"/>
          </a:p>
        </p:txBody>
      </p:sp>
      <p:sp>
        <p:nvSpPr>
          <p:cNvPr id="10" name="Text 7"/>
          <p:cNvSpPr/>
          <p:nvPr/>
        </p:nvSpPr>
        <p:spPr>
          <a:xfrm>
            <a:off x="1847850" y="6956227"/>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curl -fsSL https://sypnose.cloud/install | bash</a:t>
            </a:r>
            <a:endParaRPr lang="en-US" sz="1500" dirty="0"/>
          </a:p>
        </p:txBody>
      </p:sp>
      <p:sp>
        <p:nvSpPr>
          <p:cNvPr id="11" name="Text 8"/>
          <p:cNvSpPr/>
          <p:nvPr/>
        </p:nvSpPr>
        <p:spPr>
          <a:xfrm>
            <a:off x="1143000" y="7470577"/>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02</a:t>
            </a:r>
            <a:endParaRPr lang="en-US" sz="1650" dirty="0"/>
          </a:p>
        </p:txBody>
      </p:sp>
      <p:sp>
        <p:nvSpPr>
          <p:cNvPr id="12" name="Text 9"/>
          <p:cNvSpPr/>
          <p:nvPr/>
        </p:nvSpPr>
        <p:spPr>
          <a:xfrm>
            <a:off x="1847850" y="7470577"/>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Local memory layer</a:t>
            </a:r>
            <a:endParaRPr lang="en-US" sz="2100" dirty="0"/>
          </a:p>
        </p:txBody>
      </p:sp>
      <p:sp>
        <p:nvSpPr>
          <p:cNvPr id="13" name="Text 10"/>
          <p:cNvSpPr/>
          <p:nvPr/>
        </p:nvSpPr>
        <p:spPr>
          <a:xfrm>
            <a:off x="1847850" y="7912537"/>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Postgres + pgvector spun up by the installer. Stays on your machine.</a:t>
            </a:r>
            <a:endParaRPr lang="en-US" sz="1500" dirty="0"/>
          </a:p>
        </p:txBody>
      </p:sp>
      <p:sp>
        <p:nvSpPr>
          <p:cNvPr id="14" name="Text 11"/>
          <p:cNvSpPr/>
          <p:nvPr/>
        </p:nvSpPr>
        <p:spPr>
          <a:xfrm>
            <a:off x="1143000" y="8426887"/>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03</a:t>
            </a:r>
            <a:endParaRPr lang="en-US" sz="1650" dirty="0"/>
          </a:p>
        </p:txBody>
      </p:sp>
      <p:sp>
        <p:nvSpPr>
          <p:cNvPr id="15" name="Text 12"/>
          <p:cNvSpPr/>
          <p:nvPr/>
        </p:nvSpPr>
        <p:spPr>
          <a:xfrm>
            <a:off x="1847850" y="8426887"/>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BYO keys</a:t>
            </a:r>
            <a:endParaRPr lang="en-US" sz="2100" dirty="0"/>
          </a:p>
        </p:txBody>
      </p:sp>
      <p:sp>
        <p:nvSpPr>
          <p:cNvPr id="16" name="Text 13"/>
          <p:cNvSpPr/>
          <p:nvPr/>
        </p:nvSpPr>
        <p:spPr>
          <a:xfrm>
            <a:off x="1847850" y="8868846"/>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Claude, GPT, Gemini, Mistral, Ollama — routed by your config.</a:t>
            </a:r>
            <a:endParaRPr lang="en-US" sz="1500" dirty="0"/>
          </a:p>
        </p:txBody>
      </p:sp>
      <p:sp>
        <p:nvSpPr>
          <p:cNvPr id="17" name="Text 14"/>
          <p:cNvSpPr/>
          <p:nvPr/>
        </p:nvSpPr>
        <p:spPr>
          <a:xfrm>
            <a:off x="1143000" y="9383196"/>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04</a:t>
            </a:r>
            <a:endParaRPr lang="en-US" sz="1650" dirty="0"/>
          </a:p>
        </p:txBody>
      </p:sp>
      <p:sp>
        <p:nvSpPr>
          <p:cNvPr id="18" name="Text 15"/>
          <p:cNvSpPr/>
          <p:nvPr/>
        </p:nvSpPr>
        <p:spPr>
          <a:xfrm>
            <a:off x="1847850" y="9383196"/>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MIT licensed</a:t>
            </a:r>
            <a:endParaRPr lang="en-US" sz="2100" dirty="0"/>
          </a:p>
        </p:txBody>
      </p:sp>
      <p:sp>
        <p:nvSpPr>
          <p:cNvPr id="19" name="Text 16"/>
          <p:cNvSpPr/>
          <p:nvPr/>
        </p:nvSpPr>
        <p:spPr>
          <a:xfrm>
            <a:off x="1847850" y="9825157"/>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github.com/sypnose-cloud · agent-free · agent-sypnose. Fork it.</a:t>
            </a:r>
            <a:endParaRPr lang="en-US" sz="1500" dirty="0"/>
          </a:p>
        </p:txBody>
      </p:sp>
      <p:sp>
        <p:nvSpPr>
          <p:cNvPr id="20" name="Shape 17"/>
          <p:cNvSpPr/>
          <p:nvPr/>
        </p:nvSpPr>
        <p:spPr>
          <a:xfrm>
            <a:off x="9887784" y="2164080"/>
            <a:ext cx="7257217" cy="6193155"/>
          </a:xfrm>
          <a:prstGeom prst="roundRect">
            <a:avLst>
              <a:gd name="adj" fmla="val 2768"/>
            </a:avLst>
          </a:prstGeom>
          <a:solidFill>
            <a:srgbClr val="EEECE2"/>
          </a:solidFill>
          <a:ln w="15240">
            <a:solidFill>
              <a:srgbClr val="3D3929"/>
            </a:solidFill>
            <a:prstDash val="solid"/>
          </a:ln>
        </p:spPr>
      </p:sp>
      <p:sp>
        <p:nvSpPr>
          <p:cNvPr id="21" name="Text 18"/>
          <p:cNvSpPr/>
          <p:nvPr/>
        </p:nvSpPr>
        <p:spPr>
          <a:xfrm>
            <a:off x="10322123" y="2636520"/>
            <a:ext cx="141863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B85F3F"/>
                </a:solidFill>
                <a:latin typeface="JetBrains Mono" pitchFamily="34" charset="0"/>
                <a:ea typeface="JetBrains Mono" pitchFamily="34" charset="-122"/>
                <a:cs typeface="JetBrains Mono" pitchFamily="34" charset="-120"/>
              </a:rPr>
              <a:t>▌ AGENT FREE</a:t>
            </a:r>
            <a:endParaRPr lang="en-US" sz="1200" dirty="0"/>
          </a:p>
        </p:txBody>
      </p:sp>
      <p:sp>
        <p:nvSpPr>
          <p:cNvPr id="22" name="Text 19"/>
          <p:cNvSpPr/>
          <p:nvPr/>
        </p:nvSpPr>
        <p:spPr>
          <a:xfrm>
            <a:off x="10322123" y="2967990"/>
            <a:ext cx="6580193" cy="1304925"/>
          </a:xfrm>
          <a:prstGeom prst="rect">
            <a:avLst/>
          </a:prstGeom>
          <a:noFill/>
          <a:ln/>
        </p:spPr>
        <p:txBody>
          <a:bodyPr wrap="square" lIns="25400" tIns="25400" rIns="25400" bIns="25400" rtlCol="0" anchor="t">
            <a:normAutofit/>
          </a:bodyPr>
          <a:lstStyle/>
          <a:p>
            <a:pPr algn="l" indent="0" marL="0">
              <a:lnSpc>
                <a:spcPct val="95000"/>
              </a:lnSpc>
              <a:buNone/>
            </a:pPr>
            <a:r>
              <a:rPr lang="en-US" sz="10500" b="1" spc="-420" kern="0" dirty="0">
                <a:solidFill>
                  <a:srgbClr val="3D3929"/>
                </a:solidFill>
                <a:latin typeface="Poppins" pitchFamily="34" charset="0"/>
                <a:ea typeface="Poppins" pitchFamily="34" charset="-122"/>
                <a:cs typeface="Poppins" pitchFamily="34" charset="-120"/>
              </a:rPr>
              <a:t>$0</a:t>
            </a:r>
            <a:endParaRPr lang="en-US" sz="10500" dirty="0"/>
          </a:p>
        </p:txBody>
      </p:sp>
      <p:sp>
        <p:nvSpPr>
          <p:cNvPr id="23" name="Text 20"/>
          <p:cNvSpPr/>
          <p:nvPr/>
        </p:nvSpPr>
        <p:spPr>
          <a:xfrm>
            <a:off x="10322123" y="4368165"/>
            <a:ext cx="6580193" cy="792480"/>
          </a:xfrm>
          <a:prstGeom prst="rect">
            <a:avLst/>
          </a:prstGeom>
          <a:noFill/>
          <a:ln/>
        </p:spPr>
        <p:txBody>
          <a:bodyPr wrap="square" lIns="25400" tIns="25400" rIns="25400" bIns="25400" rtlCol="0" anchor="t">
            <a:normAutofit/>
          </a:bodyPr>
          <a:lstStyle/>
          <a:p>
            <a:pPr algn="l" indent="0" marL="0">
              <a:lnSpc>
                <a:spcPct val="110000"/>
              </a:lnSpc>
              <a:buNone/>
            </a:pPr>
            <a:r>
              <a:rPr lang="en-US" sz="2700" b="1" spc="-40" kern="0" dirty="0">
                <a:solidFill>
                  <a:srgbClr val="3D3929"/>
                </a:solidFill>
                <a:latin typeface="Poppins" pitchFamily="34" charset="0"/>
                <a:ea typeface="Poppins" pitchFamily="34" charset="-122"/>
                <a:cs typeface="Poppins" pitchFamily="34" charset="-120"/>
              </a:rPr>
              <a:t>Forever. BYO keys.</a:t>
            </a:r>
            <a:endParaRPr lang="en-US" sz="2700" dirty="0"/>
          </a:p>
        </p:txBody>
      </p:sp>
      <p:sp>
        <p:nvSpPr>
          <p:cNvPr id="24" name="Shape 21"/>
          <p:cNvSpPr/>
          <p:nvPr/>
        </p:nvSpPr>
        <p:spPr>
          <a:xfrm>
            <a:off x="10322123" y="5351145"/>
            <a:ext cx="6388537" cy="9525"/>
          </a:xfrm>
          <a:prstGeom prst="rect">
            <a:avLst/>
          </a:prstGeom>
          <a:solidFill>
            <a:srgbClr val="3D3929">
              <a:alpha val="15000"/>
            </a:srgbClr>
          </a:solidFill>
          <a:ln/>
        </p:spPr>
      </p:sp>
      <p:sp>
        <p:nvSpPr>
          <p:cNvPr id="25" name="Text 22"/>
          <p:cNvSpPr/>
          <p:nvPr/>
        </p:nvSpPr>
        <p:spPr>
          <a:xfrm>
            <a:off x="10322123" y="5589270"/>
            <a:ext cx="6580193"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No credit card. No telemetry. No upsell. We make money on Business and Enterprise — this tier exists so builders can ship without a budget meeting.</a:t>
            </a:r>
            <a:endParaRPr lang="en-US" sz="1500" dirty="0"/>
          </a:p>
        </p:txBody>
      </p:sp>
      <p:sp>
        <p:nvSpPr>
          <p:cNvPr id="26" name="Shape 23"/>
          <p:cNvSpPr/>
          <p:nvPr/>
        </p:nvSpPr>
        <p:spPr>
          <a:xfrm>
            <a:off x="10322123" y="6675120"/>
            <a:ext cx="6388537" cy="9525"/>
          </a:xfrm>
          <a:prstGeom prst="rect">
            <a:avLst/>
          </a:prstGeom>
          <a:solidFill>
            <a:srgbClr val="3D3929">
              <a:alpha val="15000"/>
            </a:srgbClr>
          </a:solidFill>
          <a:ln/>
        </p:spPr>
      </p:sp>
      <p:sp>
        <p:nvSpPr>
          <p:cNvPr id="27" name="Text 24"/>
          <p:cNvSpPr/>
          <p:nvPr/>
        </p:nvSpPr>
        <p:spPr>
          <a:xfrm>
            <a:off x="10322123" y="6913245"/>
            <a:ext cx="6580193" cy="266700"/>
          </a:xfrm>
          <a:prstGeom prst="rect">
            <a:avLst/>
          </a:prstGeom>
          <a:noFill/>
          <a:ln/>
        </p:spPr>
        <p:txBody>
          <a:bodyPr wrap="square" lIns="25400" tIns="25400" rIns="25400" bIns="25400" rtlCol="0" anchor="t">
            <a:normAutofit/>
          </a:bodyPr>
          <a:lstStyle/>
          <a:p>
            <a:pPr algn="l" indent="0" marL="0">
              <a:buNone/>
            </a:pPr>
            <a:r>
              <a:rPr lang="en-US" sz="1350" spc="113" kern="0" dirty="0">
                <a:solidFill>
                  <a:srgbClr val="B85F3F"/>
                </a:solidFill>
                <a:latin typeface="JetBrains Mono" pitchFamily="34" charset="0"/>
                <a:ea typeface="JetBrains Mono" pitchFamily="34" charset="-122"/>
                <a:cs typeface="JetBrains Mono" pitchFamily="34" charset="-120"/>
              </a:rPr>
              <a:t>▌ INSTALL</a:t>
            </a:r>
            <a:endParaRPr lang="en-US" sz="1350" dirty="0"/>
          </a:p>
        </p:txBody>
      </p:sp>
      <p:sp>
        <p:nvSpPr>
          <p:cNvPr id="28" name="Text 25"/>
          <p:cNvSpPr/>
          <p:nvPr/>
        </p:nvSpPr>
        <p:spPr>
          <a:xfrm>
            <a:off x="10322123" y="7198995"/>
            <a:ext cx="6580193" cy="7239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3D3929"/>
                </a:solidFill>
                <a:latin typeface="JetBrains Mono" pitchFamily="34" charset="0"/>
                <a:ea typeface="JetBrains Mono" pitchFamily="34" charset="-122"/>
                <a:cs typeface="JetBrains Mono" pitchFamily="34" charset="-120"/>
              </a:rPr>
              <a:t>$ curl -fsSL sypnose.cloud/install | bash</a:t>
            </a:r>
            <a:endParaRPr lang="en-US" sz="1200" dirty="0"/>
          </a:p>
        </p:txBody>
      </p:sp>
      <p:sp>
        <p:nvSpPr>
          <p:cNvPr id="29" name="Text 26"/>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30" name="Text 27"/>
          <p:cNvSpPr/>
          <p:nvPr/>
        </p:nvSpPr>
        <p:spPr>
          <a:xfrm>
            <a:off x="12533352" y="9631680"/>
            <a:ext cx="5142428"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STARTED HERE? COME BACK FOR BUSINESS TIER.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D3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EEECE2"/>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3474065" y="499110"/>
            <a:ext cx="4173493" cy="27432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13 / 15 · TIER 02 · BUSINESS ★</a:t>
            </a:r>
            <a:endParaRPr lang="en-US" sz="1350" dirty="0"/>
          </a:p>
        </p:txBody>
      </p:sp>
      <p:sp>
        <p:nvSpPr>
          <p:cNvPr id="5" name="Text 2"/>
          <p:cNvSpPr/>
          <p:nvPr/>
        </p:nvSpPr>
        <p:spPr>
          <a:xfrm>
            <a:off x="1143000" y="1524000"/>
            <a:ext cx="16482060" cy="30480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DA7756"/>
                </a:solidFill>
                <a:latin typeface="JetBrains Mono" pitchFamily="34" charset="0"/>
                <a:ea typeface="JetBrains Mono" pitchFamily="34" charset="-122"/>
                <a:cs typeface="JetBrains Mono" pitchFamily="34" charset="-120"/>
              </a:rPr>
              <a:t>▌ § 13 — AGENT SYPNOSE · ★ BEST FIT</a:t>
            </a:r>
            <a:endParaRPr lang="en-US" sz="1500" dirty="0"/>
          </a:p>
        </p:txBody>
      </p:sp>
      <p:sp>
        <p:nvSpPr>
          <p:cNvPr id="6" name="Text 3"/>
          <p:cNvSpPr/>
          <p:nvPr/>
        </p:nvSpPr>
        <p:spPr>
          <a:xfrm>
            <a:off x="1143000" y="2171700"/>
            <a:ext cx="8222267"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EEECE2"/>
                </a:solidFill>
                <a:latin typeface="Poppins" pitchFamily="34" charset="0"/>
                <a:ea typeface="Poppins" pitchFamily="34" charset="-122"/>
                <a:cs typeface="Poppins" pitchFamily="34" charset="-120"/>
              </a:rPr>
              <a:t>For teams that ship.</a:t>
            </a:r>
            <a:endParaRPr lang="en-US" sz="9000" dirty="0"/>
          </a:p>
        </p:txBody>
      </p:sp>
      <p:sp>
        <p:nvSpPr>
          <p:cNvPr id="7" name="Text 4"/>
          <p:cNvSpPr/>
          <p:nvPr/>
        </p:nvSpPr>
        <p:spPr>
          <a:xfrm>
            <a:off x="1143000" y="4632960"/>
            <a:ext cx="8222267" cy="2150269"/>
          </a:xfrm>
          <a:prstGeom prst="rect">
            <a:avLst/>
          </a:prstGeom>
          <a:noFill/>
          <a:ln/>
        </p:spPr>
        <p:txBody>
          <a:bodyPr wrap="square" lIns="25400" tIns="25400" rIns="25400" bIns="25400" rtlCol="0" anchor="t">
            <a:normAutofit/>
          </a:bodyPr>
          <a:lstStyle/>
          <a:p>
            <a:pPr algn="l" indent="0" marL="0">
              <a:lnSpc>
                <a:spcPct val="132000"/>
              </a:lnSpc>
              <a:buNone/>
            </a:pPr>
            <a:r>
              <a:rPr lang="en-US" sz="3150" i="1" dirty="0">
                <a:solidFill>
                  <a:srgbClr val="EEECE2">
                    <a:alpha val="70000"/>
                  </a:srgbClr>
                </a:solidFill>
                <a:latin typeface="Lora" pitchFamily="34" charset="0"/>
                <a:ea typeface="Lora" pitchFamily="34" charset="-122"/>
                <a:cs typeface="Lora" pitchFamily="34" charset="-120"/>
              </a:rPr>
              <a:t>Managed compute, hosted memory, the overnight build queue that closed 312 tasks with zero errors last month. Five seats included.</a:t>
            </a:r>
            <a:endParaRPr lang="en-US" sz="3150" dirty="0"/>
          </a:p>
        </p:txBody>
      </p:sp>
      <p:sp>
        <p:nvSpPr>
          <p:cNvPr id="8" name="Text 5"/>
          <p:cNvSpPr/>
          <p:nvPr/>
        </p:nvSpPr>
        <p:spPr>
          <a:xfrm>
            <a:off x="1143000" y="704992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01</a:t>
            </a:r>
            <a:endParaRPr lang="en-US" sz="1650" dirty="0"/>
          </a:p>
        </p:txBody>
      </p:sp>
      <p:sp>
        <p:nvSpPr>
          <p:cNvPr id="9" name="Text 6"/>
          <p:cNvSpPr/>
          <p:nvPr/>
        </p:nvSpPr>
        <p:spPr>
          <a:xfrm>
            <a:off x="1847850" y="704992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EEECE2"/>
                </a:solidFill>
                <a:latin typeface="Poppins" pitchFamily="34" charset="0"/>
                <a:ea typeface="Poppins" pitchFamily="34" charset="-122"/>
                <a:cs typeface="Poppins" pitchFamily="34" charset="-120"/>
              </a:rPr>
              <a:t>Our compute pool</a:t>
            </a:r>
            <a:endParaRPr lang="en-US" sz="2100" dirty="0"/>
          </a:p>
        </p:txBody>
      </p:sp>
      <p:sp>
        <p:nvSpPr>
          <p:cNvPr id="10" name="Text 7"/>
          <p:cNvSpPr/>
          <p:nvPr/>
        </p:nvSpPr>
        <p:spPr>
          <a:xfrm>
            <a:off x="1847850" y="749188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EEECE2">
                    <a:alpha val="70000"/>
                  </a:srgbClr>
                </a:solidFill>
                <a:latin typeface="DM Sans" pitchFamily="34" charset="0"/>
                <a:ea typeface="DM Sans" pitchFamily="34" charset="-122"/>
                <a:cs typeface="DM Sans" pitchFamily="34" charset="-120"/>
              </a:rPr>
              <a:t>95% routed across 11 free tiers. You pay flat. We absorb spikes.</a:t>
            </a:r>
            <a:endParaRPr lang="en-US" sz="1500" dirty="0"/>
          </a:p>
        </p:txBody>
      </p:sp>
      <p:sp>
        <p:nvSpPr>
          <p:cNvPr id="11" name="Text 8"/>
          <p:cNvSpPr/>
          <p:nvPr/>
        </p:nvSpPr>
        <p:spPr>
          <a:xfrm>
            <a:off x="1143000" y="800623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02</a:t>
            </a:r>
            <a:endParaRPr lang="en-US" sz="1650" dirty="0"/>
          </a:p>
        </p:txBody>
      </p:sp>
      <p:sp>
        <p:nvSpPr>
          <p:cNvPr id="12" name="Text 9"/>
          <p:cNvSpPr/>
          <p:nvPr/>
        </p:nvSpPr>
        <p:spPr>
          <a:xfrm>
            <a:off x="1847850" y="800623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EEECE2"/>
                </a:solidFill>
                <a:latin typeface="Poppins" pitchFamily="34" charset="0"/>
                <a:ea typeface="Poppins" pitchFamily="34" charset="-122"/>
                <a:cs typeface="Poppins" pitchFamily="34" charset="-120"/>
              </a:rPr>
              <a:t>Overnight build queue</a:t>
            </a:r>
            <a:endParaRPr lang="en-US" sz="2100" dirty="0"/>
          </a:p>
        </p:txBody>
      </p:sp>
      <p:sp>
        <p:nvSpPr>
          <p:cNvPr id="13" name="Text 10"/>
          <p:cNvSpPr/>
          <p:nvPr/>
        </p:nvSpPr>
        <p:spPr>
          <a:xfrm>
            <a:off x="1847850" y="844819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EEECE2">
                    <a:alpha val="70000"/>
                  </a:srgbClr>
                </a:solidFill>
                <a:latin typeface="DM Sans" pitchFamily="34" charset="0"/>
                <a:ea typeface="DM Sans" pitchFamily="34" charset="-122"/>
                <a:cs typeface="DM Sans" pitchFamily="34" charset="-120"/>
              </a:rPr>
              <a:t>9 agents · 312 tasks · 0 errors — last benchmark run, Apr 2026.</a:t>
            </a:r>
            <a:endParaRPr lang="en-US" sz="1500" dirty="0"/>
          </a:p>
        </p:txBody>
      </p:sp>
      <p:sp>
        <p:nvSpPr>
          <p:cNvPr id="14" name="Text 11"/>
          <p:cNvSpPr/>
          <p:nvPr/>
        </p:nvSpPr>
        <p:spPr>
          <a:xfrm>
            <a:off x="1143000" y="896254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03</a:t>
            </a:r>
            <a:endParaRPr lang="en-US" sz="1650" dirty="0"/>
          </a:p>
        </p:txBody>
      </p:sp>
      <p:sp>
        <p:nvSpPr>
          <p:cNvPr id="15" name="Text 12"/>
          <p:cNvSpPr/>
          <p:nvPr/>
        </p:nvSpPr>
        <p:spPr>
          <a:xfrm>
            <a:off x="1847850" y="896254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EEECE2"/>
                </a:solidFill>
                <a:latin typeface="Poppins" pitchFamily="34" charset="0"/>
                <a:ea typeface="Poppins" pitchFamily="34" charset="-122"/>
                <a:cs typeface="Poppins" pitchFamily="34" charset="-120"/>
              </a:rPr>
              <a:t>Slack channel</a:t>
            </a:r>
            <a:endParaRPr lang="en-US" sz="2100" dirty="0"/>
          </a:p>
        </p:txBody>
      </p:sp>
      <p:sp>
        <p:nvSpPr>
          <p:cNvPr id="16" name="Text 13"/>
          <p:cNvSpPr/>
          <p:nvPr/>
        </p:nvSpPr>
        <p:spPr>
          <a:xfrm>
            <a:off x="1847850" y="940450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EEECE2">
                    <a:alpha val="70000"/>
                  </a:srgbClr>
                </a:solidFill>
                <a:latin typeface="DM Sans" pitchFamily="34" charset="0"/>
                <a:ea typeface="DM Sans" pitchFamily="34" charset="-122"/>
                <a:cs typeface="DM Sans" pitchFamily="34" charset="-120"/>
              </a:rPr>
              <a:t>Direct line to the team — including Carlos. No tier-1 support theater.</a:t>
            </a:r>
            <a:endParaRPr lang="en-US" sz="1500" dirty="0"/>
          </a:p>
        </p:txBody>
      </p:sp>
      <p:sp>
        <p:nvSpPr>
          <p:cNvPr id="17" name="Text 14"/>
          <p:cNvSpPr/>
          <p:nvPr/>
        </p:nvSpPr>
        <p:spPr>
          <a:xfrm>
            <a:off x="1143000" y="991885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04</a:t>
            </a:r>
            <a:endParaRPr lang="en-US" sz="1650" dirty="0"/>
          </a:p>
        </p:txBody>
      </p:sp>
      <p:sp>
        <p:nvSpPr>
          <p:cNvPr id="18" name="Text 15"/>
          <p:cNvSpPr/>
          <p:nvPr/>
        </p:nvSpPr>
        <p:spPr>
          <a:xfrm>
            <a:off x="1847850" y="991885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EEECE2"/>
                </a:solidFill>
                <a:latin typeface="Poppins" pitchFamily="34" charset="0"/>
                <a:ea typeface="Poppins" pitchFamily="34" charset="-122"/>
                <a:cs typeface="Poppins" pitchFamily="34" charset="-120"/>
              </a:rPr>
              <a:t>Weekly digest</a:t>
            </a:r>
            <a:endParaRPr lang="en-US" sz="2100" dirty="0"/>
          </a:p>
        </p:txBody>
      </p:sp>
      <p:sp>
        <p:nvSpPr>
          <p:cNvPr id="19" name="Text 16"/>
          <p:cNvSpPr/>
          <p:nvPr/>
        </p:nvSpPr>
        <p:spPr>
          <a:xfrm>
            <a:off x="1847850" y="1036081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EEECE2">
                    <a:alpha val="70000"/>
                  </a:srgbClr>
                </a:solidFill>
                <a:latin typeface="DM Sans" pitchFamily="34" charset="0"/>
                <a:ea typeface="DM Sans" pitchFamily="34" charset="-122"/>
                <a:cs typeface="DM Sans" pitchFamily="34" charset="-120"/>
              </a:rPr>
              <a:t>Workers used, tasks closed, tokens burned, top errors — every Monday 09:00 UTC.</a:t>
            </a:r>
            <a:endParaRPr lang="en-US" sz="1500" dirty="0"/>
          </a:p>
        </p:txBody>
      </p:sp>
      <p:sp>
        <p:nvSpPr>
          <p:cNvPr id="20" name="Shape 17"/>
          <p:cNvSpPr/>
          <p:nvPr/>
        </p:nvSpPr>
        <p:spPr>
          <a:xfrm>
            <a:off x="9887784" y="2171700"/>
            <a:ext cx="7257217" cy="6109335"/>
          </a:xfrm>
          <a:prstGeom prst="roundRect">
            <a:avLst>
              <a:gd name="adj" fmla="val 2806"/>
            </a:avLst>
          </a:prstGeom>
          <a:solidFill>
            <a:srgbClr val="2A261B"/>
          </a:solidFill>
          <a:ln w="15240">
            <a:solidFill>
              <a:srgbClr val="DA7756"/>
            </a:solidFill>
            <a:prstDash val="solid"/>
          </a:ln>
        </p:spPr>
      </p:sp>
      <p:sp>
        <p:nvSpPr>
          <p:cNvPr id="21" name="Text 18"/>
          <p:cNvSpPr/>
          <p:nvPr/>
        </p:nvSpPr>
        <p:spPr>
          <a:xfrm>
            <a:off x="10322123" y="2659380"/>
            <a:ext cx="2006679"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DA7756"/>
                </a:solidFill>
                <a:latin typeface="JetBrains Mono" pitchFamily="34" charset="0"/>
                <a:ea typeface="JetBrains Mono" pitchFamily="34" charset="-122"/>
                <a:cs typeface="JetBrains Mono" pitchFamily="34" charset="-120"/>
              </a:rPr>
              <a:t>▌ AGENT SYPNOSE ★</a:t>
            </a:r>
            <a:endParaRPr lang="en-US" sz="1200" dirty="0"/>
          </a:p>
        </p:txBody>
      </p:sp>
      <p:sp>
        <p:nvSpPr>
          <p:cNvPr id="22" name="Text 19"/>
          <p:cNvSpPr/>
          <p:nvPr/>
        </p:nvSpPr>
        <p:spPr>
          <a:xfrm>
            <a:off x="10322123" y="2990850"/>
            <a:ext cx="6580193" cy="1304925"/>
          </a:xfrm>
          <a:prstGeom prst="rect">
            <a:avLst/>
          </a:prstGeom>
          <a:noFill/>
          <a:ln/>
        </p:spPr>
        <p:txBody>
          <a:bodyPr wrap="square" lIns="25400" tIns="25400" rIns="25400" bIns="25400" rtlCol="0" anchor="t">
            <a:normAutofit/>
          </a:bodyPr>
          <a:lstStyle/>
          <a:p>
            <a:pPr algn="l" indent="0" marL="0">
              <a:lnSpc>
                <a:spcPct val="95000"/>
              </a:lnSpc>
              <a:buNone/>
            </a:pPr>
            <a:r>
              <a:rPr lang="en-US" sz="10500" b="1" spc="-420" kern="0" dirty="0">
                <a:solidFill>
                  <a:srgbClr val="EEECE2"/>
                </a:solidFill>
                <a:latin typeface="Poppins" pitchFamily="34" charset="0"/>
                <a:ea typeface="Poppins" pitchFamily="34" charset="-122"/>
                <a:cs typeface="Poppins" pitchFamily="34" charset="-120"/>
              </a:rPr>
              <a:t>$2,400</a:t>
            </a:r>
            <a:endParaRPr lang="en-US" sz="10500" dirty="0"/>
          </a:p>
        </p:txBody>
      </p:sp>
      <p:sp>
        <p:nvSpPr>
          <p:cNvPr id="23" name="Text 20"/>
          <p:cNvSpPr/>
          <p:nvPr/>
        </p:nvSpPr>
        <p:spPr>
          <a:xfrm>
            <a:off x="10322123" y="4391025"/>
            <a:ext cx="6580193" cy="792480"/>
          </a:xfrm>
          <a:prstGeom prst="rect">
            <a:avLst/>
          </a:prstGeom>
          <a:noFill/>
          <a:ln/>
        </p:spPr>
        <p:txBody>
          <a:bodyPr wrap="square" lIns="25400" tIns="25400" rIns="25400" bIns="25400" rtlCol="0" anchor="t">
            <a:normAutofit/>
          </a:bodyPr>
          <a:lstStyle/>
          <a:p>
            <a:pPr algn="l" indent="0" marL="0">
              <a:lnSpc>
                <a:spcPct val="110000"/>
              </a:lnSpc>
              <a:buNone/>
            </a:pPr>
            <a:r>
              <a:rPr lang="en-US" sz="2700" b="1" spc="-40" kern="0" dirty="0">
                <a:solidFill>
                  <a:srgbClr val="EEECE2"/>
                </a:solidFill>
                <a:latin typeface="Poppins" pitchFamily="34" charset="0"/>
                <a:ea typeface="Poppins" pitchFamily="34" charset="-122"/>
                <a:cs typeface="Poppins" pitchFamily="34" charset="-120"/>
              </a:rPr>
              <a:t>per month. 5 seats included.</a:t>
            </a:r>
            <a:endParaRPr lang="en-US" sz="2700" dirty="0"/>
          </a:p>
        </p:txBody>
      </p:sp>
      <p:sp>
        <p:nvSpPr>
          <p:cNvPr id="24" name="Shape 21"/>
          <p:cNvSpPr/>
          <p:nvPr/>
        </p:nvSpPr>
        <p:spPr>
          <a:xfrm>
            <a:off x="10322123" y="5374005"/>
            <a:ext cx="6388537" cy="9525"/>
          </a:xfrm>
          <a:prstGeom prst="rect">
            <a:avLst/>
          </a:prstGeom>
          <a:solidFill>
            <a:srgbClr val="EEECE2">
              <a:alpha val="15000"/>
            </a:srgbClr>
          </a:solidFill>
          <a:ln/>
        </p:spPr>
      </p:sp>
      <p:sp>
        <p:nvSpPr>
          <p:cNvPr id="25" name="Text 22"/>
          <p:cNvSpPr/>
          <p:nvPr/>
        </p:nvSpPr>
        <p:spPr>
          <a:xfrm>
            <a:off x="10322123" y="5612130"/>
            <a:ext cx="6580193"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EEECE2">
                    <a:alpha val="60000"/>
                  </a:srgbClr>
                </a:solidFill>
                <a:latin typeface="DM Sans" pitchFamily="34" charset="0"/>
                <a:ea typeface="DM Sans" pitchFamily="34" charset="-122"/>
                <a:cs typeface="DM Sans" pitchFamily="34" charset="-120"/>
              </a:rPr>
              <a:t>Annual: $24,000 (-17%). Add seat: $360/mo. Add overnight queue capacity: per-pool quote. Stripe billing, paid by invoice for teams over 10 seats.</a:t>
            </a:r>
            <a:endParaRPr lang="en-US" sz="1500" dirty="0"/>
          </a:p>
        </p:txBody>
      </p:sp>
      <p:sp>
        <p:nvSpPr>
          <p:cNvPr id="26" name="Shape 23"/>
          <p:cNvSpPr/>
          <p:nvPr/>
        </p:nvSpPr>
        <p:spPr>
          <a:xfrm>
            <a:off x="10322123" y="6697980"/>
            <a:ext cx="6388537" cy="9525"/>
          </a:xfrm>
          <a:prstGeom prst="rect">
            <a:avLst/>
          </a:prstGeom>
          <a:solidFill>
            <a:srgbClr val="EEECE2">
              <a:alpha val="15000"/>
            </a:srgbClr>
          </a:solidFill>
          <a:ln/>
        </p:spPr>
      </p:sp>
      <p:sp>
        <p:nvSpPr>
          <p:cNvPr id="27" name="Text 24"/>
          <p:cNvSpPr/>
          <p:nvPr/>
        </p:nvSpPr>
        <p:spPr>
          <a:xfrm>
            <a:off x="10322123" y="6936105"/>
            <a:ext cx="6580193" cy="266700"/>
          </a:xfrm>
          <a:prstGeom prst="rect">
            <a:avLst/>
          </a:prstGeom>
          <a:noFill/>
          <a:ln/>
        </p:spPr>
        <p:txBody>
          <a:bodyPr wrap="square" lIns="25400" tIns="25400" rIns="25400" bIns="25400" rtlCol="0" anchor="t">
            <a:normAutofit/>
          </a:bodyPr>
          <a:lstStyle/>
          <a:p>
            <a:pPr algn="l" indent="0" marL="0">
              <a:buNone/>
            </a:pPr>
            <a:r>
              <a:rPr lang="en-US" sz="1350" spc="113" kern="0" dirty="0">
                <a:solidFill>
                  <a:srgbClr val="DA7756"/>
                </a:solidFill>
                <a:latin typeface="JetBrains Mono" pitchFamily="34" charset="0"/>
                <a:ea typeface="JetBrains Mono" pitchFamily="34" charset="-122"/>
                <a:cs typeface="JetBrains Mono" pitchFamily="34" charset="-120"/>
              </a:rPr>
              <a:t>▌ NEXT STEP</a:t>
            </a:r>
            <a:endParaRPr lang="en-US" sz="1350" dirty="0"/>
          </a:p>
        </p:txBody>
      </p:sp>
      <p:sp>
        <p:nvSpPr>
          <p:cNvPr id="28" name="Text 25"/>
          <p:cNvSpPr/>
          <p:nvPr/>
        </p:nvSpPr>
        <p:spPr>
          <a:xfrm>
            <a:off x="10322123" y="7221855"/>
            <a:ext cx="6580193"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EEECE2"/>
                </a:solidFill>
                <a:latin typeface="Poppins" pitchFamily="34" charset="0"/>
                <a:ea typeface="Poppins" pitchFamily="34" charset="-122"/>
                <a:cs typeface="Poppins" pitchFamily="34" charset="-120"/>
              </a:rPr>
              <a:t>6h POC · free hello@sypnose.cloud</a:t>
            </a:r>
            <a:endParaRPr lang="en-US" sz="1650" dirty="0"/>
          </a:p>
        </p:txBody>
      </p:sp>
      <p:sp>
        <p:nvSpPr>
          <p:cNvPr id="29" name="Text 26"/>
          <p:cNvSpPr/>
          <p:nvPr/>
        </p:nvSpPr>
        <p:spPr>
          <a:xfrm>
            <a:off x="762000" y="962406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SYPNOSE.CLOUD</a:t>
            </a:r>
            <a:endParaRPr lang="en-US" sz="1200" dirty="0"/>
          </a:p>
        </p:txBody>
      </p:sp>
      <p:sp>
        <p:nvSpPr>
          <p:cNvPr id="30" name="Text 27"/>
          <p:cNvSpPr/>
          <p:nvPr/>
        </p:nvSpPr>
        <p:spPr>
          <a:xfrm>
            <a:off x="13924241" y="9616440"/>
            <a:ext cx="3709813" cy="25146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EEECE2">
                    <a:alpha val="35000"/>
                  </a:srgbClr>
                </a:solidFill>
                <a:latin typeface="JetBrains Mono" pitchFamily="34" charset="0"/>
                <a:ea typeface="JetBrains Mono" pitchFamily="34" charset="-122"/>
                <a:cs typeface="JetBrains Mono" pitchFamily="34" charset="-120"/>
              </a:rPr>
              <a:t>★ THE TIER WE RECOMMEND TO YOU</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2000" y="464820"/>
            <a:ext cx="304800" cy="304800"/>
          </a:xfrm>
          <a:prstGeom prst="rect">
            <a:avLst/>
          </a:prstGeom>
        </p:spPr>
      </p:pic>
      <p:sp>
        <p:nvSpPr>
          <p:cNvPr id="3" name="Text 0"/>
          <p:cNvSpPr/>
          <p:nvPr/>
        </p:nvSpPr>
        <p:spPr>
          <a:xfrm>
            <a:off x="1200150" y="457200"/>
            <a:ext cx="955358" cy="358140"/>
          </a:xfrm>
          <a:prstGeom prst="rect">
            <a:avLst/>
          </a:prstGeom>
          <a:noFill/>
          <a:ln/>
        </p:spPr>
        <p:txBody>
          <a:bodyPr wrap="square" lIns="25400" tIns="25400" rIns="25400" bIns="25400" rtlCol="0" anchor="t">
            <a:normAutofit/>
          </a:bodyPr>
          <a:lstStyle/>
          <a:p>
            <a:pPr algn="l" indent="0" marL="0">
              <a:buNone/>
            </a:pPr>
            <a:r>
              <a:rPr lang="en-US" sz="1650" b="1" spc="-37" kern="0" dirty="0">
                <a:solidFill>
                  <a:srgbClr val="3D3929">
                    <a:alpha val="45000"/>
                  </a:srgbClr>
                </a:solidFill>
                <a:latin typeface="Poppins" pitchFamily="34" charset="0"/>
                <a:ea typeface="Poppins" pitchFamily="34" charset="-122"/>
                <a:cs typeface="Poppins" pitchFamily="34" charset="-120"/>
              </a:rPr>
              <a:t>sypnose</a:t>
            </a:r>
            <a:endParaRPr lang="en-US" sz="1650" dirty="0"/>
          </a:p>
        </p:txBody>
      </p:sp>
      <p:sp>
        <p:nvSpPr>
          <p:cNvPr id="4" name="Text 1"/>
          <p:cNvSpPr/>
          <p:nvPr/>
        </p:nvSpPr>
        <p:spPr>
          <a:xfrm>
            <a:off x="13514070" y="502920"/>
            <a:ext cx="413228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3D3929">
                    <a:alpha val="45000"/>
                  </a:srgbClr>
                </a:solidFill>
                <a:latin typeface="JetBrains Mono" pitchFamily="34" charset="0"/>
                <a:ea typeface="JetBrains Mono" pitchFamily="34" charset="-122"/>
                <a:cs typeface="JetBrains Mono" pitchFamily="34" charset="-120"/>
              </a:rPr>
              <a:t>14 / 15 · TIER 03 · ENTERPRISE</a:t>
            </a:r>
            <a:endParaRPr lang="en-US" sz="1350" dirty="0"/>
          </a:p>
        </p:txBody>
      </p:sp>
      <p:sp>
        <p:nvSpPr>
          <p:cNvPr id="5" name="Text 2"/>
          <p:cNvSpPr/>
          <p:nvPr/>
        </p:nvSpPr>
        <p:spPr>
          <a:xfrm>
            <a:off x="1143000" y="1524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B85F3F"/>
                </a:solidFill>
                <a:latin typeface="JetBrains Mono" pitchFamily="34" charset="0"/>
                <a:ea typeface="JetBrains Mono" pitchFamily="34" charset="-122"/>
                <a:cs typeface="JetBrains Mono" pitchFamily="34" charset="-120"/>
              </a:rPr>
              <a:t>▌ § 14 — AGENT PLATFORM</a:t>
            </a:r>
            <a:endParaRPr lang="en-US" sz="1500" dirty="0"/>
          </a:p>
        </p:txBody>
      </p:sp>
      <p:sp>
        <p:nvSpPr>
          <p:cNvPr id="6" name="Text 3"/>
          <p:cNvSpPr/>
          <p:nvPr/>
        </p:nvSpPr>
        <p:spPr>
          <a:xfrm>
            <a:off x="1143000" y="2164080"/>
            <a:ext cx="8222267" cy="2232660"/>
          </a:xfrm>
          <a:prstGeom prst="rect">
            <a:avLst/>
          </a:prstGeom>
          <a:noFill/>
          <a:ln/>
        </p:spPr>
        <p:txBody>
          <a:bodyPr wrap="square" lIns="25400" tIns="25400" rIns="25400" bIns="25400" rtlCol="0" anchor="t">
            <a:normAutofit/>
          </a:bodyPr>
          <a:lstStyle/>
          <a:p>
            <a:pPr algn="l" indent="0" marL="0">
              <a:lnSpc>
                <a:spcPct val="96000"/>
              </a:lnSpc>
              <a:buNone/>
            </a:pPr>
            <a:r>
              <a:rPr lang="en-US" sz="9000" b="1" spc="-360" kern="0" dirty="0">
                <a:solidFill>
                  <a:srgbClr val="3D3929"/>
                </a:solidFill>
                <a:latin typeface="Poppins" pitchFamily="34" charset="0"/>
                <a:ea typeface="Poppins" pitchFamily="34" charset="-122"/>
                <a:cs typeface="Poppins" pitchFamily="34" charset="-120"/>
              </a:rPr>
              <a:t>For VPC customers.</a:t>
            </a:r>
            <a:endParaRPr lang="en-US" sz="9000" dirty="0"/>
          </a:p>
        </p:txBody>
      </p:sp>
      <p:sp>
        <p:nvSpPr>
          <p:cNvPr id="7" name="Text 4"/>
          <p:cNvSpPr/>
          <p:nvPr/>
        </p:nvSpPr>
        <p:spPr>
          <a:xfrm>
            <a:off x="1143000" y="4625340"/>
            <a:ext cx="8222267" cy="2150269"/>
          </a:xfrm>
          <a:prstGeom prst="rect">
            <a:avLst/>
          </a:prstGeom>
          <a:noFill/>
          <a:ln/>
        </p:spPr>
        <p:txBody>
          <a:bodyPr wrap="square" lIns="25400" tIns="25400" rIns="25400" bIns="25400" rtlCol="0" anchor="t">
            <a:normAutofit/>
          </a:bodyPr>
          <a:lstStyle/>
          <a:p>
            <a:pPr algn="l" indent="0" marL="0">
              <a:lnSpc>
                <a:spcPct val="132000"/>
              </a:lnSpc>
              <a:buNone/>
            </a:pPr>
            <a:r>
              <a:rPr lang="en-US" sz="3150" i="1" dirty="0">
                <a:solidFill>
                  <a:srgbClr val="3D3929">
                    <a:alpha val="70000"/>
                  </a:srgbClr>
                </a:solidFill>
                <a:latin typeface="Lora" pitchFamily="34" charset="0"/>
                <a:ea typeface="Lora" pitchFamily="34" charset="-122"/>
                <a:cs typeface="Lora" pitchFamily="34" charset="-120"/>
              </a:rPr>
              <a:t>Deployed inside your network. SOC 2 paper trail. Your provider choice, your retention policy. We sign an MSA, you sign an order form.</a:t>
            </a:r>
            <a:endParaRPr lang="en-US" sz="3150" dirty="0"/>
          </a:p>
        </p:txBody>
      </p:sp>
      <p:sp>
        <p:nvSpPr>
          <p:cNvPr id="8" name="Text 5"/>
          <p:cNvSpPr/>
          <p:nvPr/>
        </p:nvSpPr>
        <p:spPr>
          <a:xfrm>
            <a:off x="1143000" y="704230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01</a:t>
            </a:r>
            <a:endParaRPr lang="en-US" sz="1650" dirty="0"/>
          </a:p>
        </p:txBody>
      </p:sp>
      <p:sp>
        <p:nvSpPr>
          <p:cNvPr id="9" name="Text 6"/>
          <p:cNvSpPr/>
          <p:nvPr/>
        </p:nvSpPr>
        <p:spPr>
          <a:xfrm>
            <a:off x="1847850" y="704230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VPC deployment</a:t>
            </a:r>
            <a:endParaRPr lang="en-US" sz="2100" dirty="0"/>
          </a:p>
        </p:txBody>
      </p:sp>
      <p:sp>
        <p:nvSpPr>
          <p:cNvPr id="10" name="Text 7"/>
          <p:cNvSpPr/>
          <p:nvPr/>
        </p:nvSpPr>
        <p:spPr>
          <a:xfrm>
            <a:off x="1847850" y="748426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Helm chart in your cluster · or Terraform module · or both.</a:t>
            </a:r>
            <a:endParaRPr lang="en-US" sz="1500" dirty="0"/>
          </a:p>
        </p:txBody>
      </p:sp>
      <p:sp>
        <p:nvSpPr>
          <p:cNvPr id="11" name="Text 8"/>
          <p:cNvSpPr/>
          <p:nvPr/>
        </p:nvSpPr>
        <p:spPr>
          <a:xfrm>
            <a:off x="1143000" y="799861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02</a:t>
            </a:r>
            <a:endParaRPr lang="en-US" sz="1650" dirty="0"/>
          </a:p>
        </p:txBody>
      </p:sp>
      <p:sp>
        <p:nvSpPr>
          <p:cNvPr id="12" name="Text 9"/>
          <p:cNvSpPr/>
          <p:nvPr/>
        </p:nvSpPr>
        <p:spPr>
          <a:xfrm>
            <a:off x="1847850" y="799861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SOC 2 + SSO</a:t>
            </a:r>
            <a:endParaRPr lang="en-US" sz="2100" dirty="0"/>
          </a:p>
        </p:txBody>
      </p:sp>
      <p:sp>
        <p:nvSpPr>
          <p:cNvPr id="13" name="Text 10"/>
          <p:cNvSpPr/>
          <p:nvPr/>
        </p:nvSpPr>
        <p:spPr>
          <a:xfrm>
            <a:off x="1847850" y="844057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Audit logging, IP allowlisting, SAML / OIDC, retention controls.</a:t>
            </a:r>
            <a:endParaRPr lang="en-US" sz="1500" dirty="0"/>
          </a:p>
        </p:txBody>
      </p:sp>
      <p:sp>
        <p:nvSpPr>
          <p:cNvPr id="14" name="Text 11"/>
          <p:cNvSpPr/>
          <p:nvPr/>
        </p:nvSpPr>
        <p:spPr>
          <a:xfrm>
            <a:off x="1143000" y="895492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03</a:t>
            </a:r>
            <a:endParaRPr lang="en-US" sz="1650" dirty="0"/>
          </a:p>
        </p:txBody>
      </p:sp>
      <p:sp>
        <p:nvSpPr>
          <p:cNvPr id="15" name="Text 12"/>
          <p:cNvSpPr/>
          <p:nvPr/>
        </p:nvSpPr>
        <p:spPr>
          <a:xfrm>
            <a:off x="1847850" y="895492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Dedicated architect</a:t>
            </a:r>
            <a:endParaRPr lang="en-US" sz="2100" dirty="0"/>
          </a:p>
        </p:txBody>
      </p:sp>
      <p:sp>
        <p:nvSpPr>
          <p:cNvPr id="16" name="Text 13"/>
          <p:cNvSpPr/>
          <p:nvPr/>
        </p:nvSpPr>
        <p:spPr>
          <a:xfrm>
            <a:off x="1847850" y="939688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One engineer from our side, in your channels, with SLA on response.</a:t>
            </a:r>
            <a:endParaRPr lang="en-US" sz="1500" dirty="0"/>
          </a:p>
        </p:txBody>
      </p:sp>
      <p:sp>
        <p:nvSpPr>
          <p:cNvPr id="17" name="Text 14"/>
          <p:cNvSpPr/>
          <p:nvPr/>
        </p:nvSpPr>
        <p:spPr>
          <a:xfrm>
            <a:off x="1143000" y="9911239"/>
            <a:ext cx="55245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B85F3F"/>
                </a:solidFill>
                <a:latin typeface="JetBrains Mono" pitchFamily="34" charset="0"/>
                <a:ea typeface="JetBrains Mono" pitchFamily="34" charset="-122"/>
                <a:cs typeface="JetBrains Mono" pitchFamily="34" charset="-120"/>
              </a:rPr>
              <a:t>04</a:t>
            </a:r>
            <a:endParaRPr lang="en-US" sz="1650" dirty="0"/>
          </a:p>
        </p:txBody>
      </p:sp>
      <p:sp>
        <p:nvSpPr>
          <p:cNvPr id="18" name="Text 15"/>
          <p:cNvSpPr/>
          <p:nvPr/>
        </p:nvSpPr>
        <p:spPr>
          <a:xfrm>
            <a:off x="1847850" y="9911239"/>
            <a:ext cx="7496272" cy="441960"/>
          </a:xfrm>
          <a:prstGeom prst="rect">
            <a:avLst/>
          </a:prstGeom>
          <a:noFill/>
          <a:ln/>
        </p:spPr>
        <p:txBody>
          <a:bodyPr wrap="square" lIns="25400" tIns="25400" rIns="25400" bIns="25400" rtlCol="0" anchor="t">
            <a:normAutofit/>
          </a:bodyPr>
          <a:lstStyle/>
          <a:p>
            <a:pPr algn="l" indent="0" marL="0">
              <a:buNone/>
            </a:pPr>
            <a:r>
              <a:rPr lang="en-US" sz="2100" b="1" spc="-25" kern="0" dirty="0">
                <a:solidFill>
                  <a:srgbClr val="3D3929"/>
                </a:solidFill>
                <a:latin typeface="Poppins" pitchFamily="34" charset="0"/>
                <a:ea typeface="Poppins" pitchFamily="34" charset="-122"/>
                <a:cs typeface="Poppins" pitchFamily="34" charset="-120"/>
              </a:rPr>
              <a:t>Your providers</a:t>
            </a:r>
            <a:endParaRPr lang="en-US" sz="2100" dirty="0"/>
          </a:p>
        </p:txBody>
      </p:sp>
      <p:sp>
        <p:nvSpPr>
          <p:cNvPr id="19" name="Text 16"/>
          <p:cNvSpPr/>
          <p:nvPr/>
        </p:nvSpPr>
        <p:spPr>
          <a:xfrm>
            <a:off x="1847850" y="10353199"/>
            <a:ext cx="749627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Bring your Anthropic, Bedrock, Azure OpenAI, on-prem Llama — we route.</a:t>
            </a:r>
            <a:endParaRPr lang="en-US" sz="1500" dirty="0"/>
          </a:p>
        </p:txBody>
      </p:sp>
      <p:sp>
        <p:nvSpPr>
          <p:cNvPr id="20" name="Shape 17"/>
          <p:cNvSpPr/>
          <p:nvPr/>
        </p:nvSpPr>
        <p:spPr>
          <a:xfrm>
            <a:off x="9887784" y="2164080"/>
            <a:ext cx="7257217" cy="5641657"/>
          </a:xfrm>
          <a:prstGeom prst="roundRect">
            <a:avLst>
              <a:gd name="adj" fmla="val 3039"/>
            </a:avLst>
          </a:prstGeom>
          <a:solidFill>
            <a:srgbClr val="EEECE2"/>
          </a:solidFill>
          <a:ln w="15240">
            <a:solidFill>
              <a:srgbClr val="3D3929"/>
            </a:solidFill>
            <a:prstDash val="solid"/>
          </a:ln>
        </p:spPr>
      </p:sp>
      <p:sp>
        <p:nvSpPr>
          <p:cNvPr id="21" name="Text 18"/>
          <p:cNvSpPr/>
          <p:nvPr/>
        </p:nvSpPr>
        <p:spPr>
          <a:xfrm>
            <a:off x="10322123" y="2636520"/>
            <a:ext cx="1860590" cy="236220"/>
          </a:xfrm>
          <a:prstGeom prst="rect">
            <a:avLst/>
          </a:prstGeom>
          <a:noFill/>
          <a:ln/>
        </p:spPr>
        <p:txBody>
          <a:bodyPr wrap="square" lIns="25400" tIns="25400" rIns="25400" bIns="25400" rtlCol="0" anchor="t">
            <a:normAutofit/>
          </a:bodyPr>
          <a:lstStyle/>
          <a:p>
            <a:pPr algn="l" indent="0" marL="0">
              <a:buNone/>
            </a:pPr>
            <a:r>
              <a:rPr lang="en-US" sz="1200" spc="150" kern="0" dirty="0">
                <a:solidFill>
                  <a:srgbClr val="B85F3F"/>
                </a:solidFill>
                <a:latin typeface="JetBrains Mono" pitchFamily="34" charset="0"/>
                <a:ea typeface="JetBrains Mono" pitchFamily="34" charset="-122"/>
                <a:cs typeface="JetBrains Mono" pitchFamily="34" charset="-120"/>
              </a:rPr>
              <a:t>▌ AGENT PLATFORM</a:t>
            </a:r>
            <a:endParaRPr lang="en-US" sz="1200" dirty="0"/>
          </a:p>
        </p:txBody>
      </p:sp>
      <p:sp>
        <p:nvSpPr>
          <p:cNvPr id="22" name="Text 19"/>
          <p:cNvSpPr/>
          <p:nvPr/>
        </p:nvSpPr>
        <p:spPr>
          <a:xfrm>
            <a:off x="10322123" y="2967990"/>
            <a:ext cx="6580193" cy="852488"/>
          </a:xfrm>
          <a:prstGeom prst="rect">
            <a:avLst/>
          </a:prstGeom>
          <a:noFill/>
          <a:ln/>
        </p:spPr>
        <p:txBody>
          <a:bodyPr wrap="square" lIns="25400" tIns="25400" rIns="25400" bIns="25400" rtlCol="0" anchor="t">
            <a:normAutofit/>
          </a:bodyPr>
          <a:lstStyle/>
          <a:p>
            <a:pPr algn="l" indent="0" marL="0">
              <a:lnSpc>
                <a:spcPct val="95000"/>
              </a:lnSpc>
              <a:buNone/>
            </a:pPr>
            <a:r>
              <a:rPr lang="en-US" sz="6750" b="1" spc="-270" kern="0" dirty="0">
                <a:solidFill>
                  <a:srgbClr val="3D3929"/>
                </a:solidFill>
                <a:latin typeface="Poppins" pitchFamily="34" charset="0"/>
                <a:ea typeface="Poppins" pitchFamily="34" charset="-122"/>
                <a:cs typeface="Poppins" pitchFamily="34" charset="-120"/>
              </a:rPr>
              <a:t>Custom</a:t>
            </a:r>
            <a:endParaRPr lang="en-US" sz="6750" dirty="0"/>
          </a:p>
        </p:txBody>
      </p:sp>
      <p:sp>
        <p:nvSpPr>
          <p:cNvPr id="23" name="Text 20"/>
          <p:cNvSpPr/>
          <p:nvPr/>
        </p:nvSpPr>
        <p:spPr>
          <a:xfrm>
            <a:off x="10322123" y="3915728"/>
            <a:ext cx="6580193" cy="792480"/>
          </a:xfrm>
          <a:prstGeom prst="rect">
            <a:avLst/>
          </a:prstGeom>
          <a:noFill/>
          <a:ln/>
        </p:spPr>
        <p:txBody>
          <a:bodyPr wrap="square" lIns="25400" tIns="25400" rIns="25400" bIns="25400" rtlCol="0" anchor="t">
            <a:normAutofit/>
          </a:bodyPr>
          <a:lstStyle/>
          <a:p>
            <a:pPr algn="l" indent="0" marL="0">
              <a:lnSpc>
                <a:spcPct val="110000"/>
              </a:lnSpc>
              <a:buNone/>
            </a:pPr>
            <a:r>
              <a:rPr lang="en-US" sz="2700" b="1" spc="-40" kern="0" dirty="0">
                <a:solidFill>
                  <a:srgbClr val="3D3929"/>
                </a:solidFill>
                <a:latin typeface="Poppins" pitchFamily="34" charset="0"/>
                <a:ea typeface="Poppins" pitchFamily="34" charset="-122"/>
                <a:cs typeface="Poppins" pitchFamily="34" charset="-120"/>
              </a:rPr>
              <a:t>Annual. Per deployment.</a:t>
            </a:r>
            <a:endParaRPr lang="en-US" sz="2700" dirty="0"/>
          </a:p>
        </p:txBody>
      </p:sp>
      <p:sp>
        <p:nvSpPr>
          <p:cNvPr id="24" name="Shape 21"/>
          <p:cNvSpPr/>
          <p:nvPr/>
        </p:nvSpPr>
        <p:spPr>
          <a:xfrm>
            <a:off x="10322123" y="4898707"/>
            <a:ext cx="6388537" cy="9525"/>
          </a:xfrm>
          <a:prstGeom prst="rect">
            <a:avLst/>
          </a:prstGeom>
          <a:solidFill>
            <a:srgbClr val="3D3929">
              <a:alpha val="15000"/>
            </a:srgbClr>
          </a:solidFill>
          <a:ln/>
        </p:spPr>
      </p:sp>
      <p:sp>
        <p:nvSpPr>
          <p:cNvPr id="25" name="Text 22"/>
          <p:cNvSpPr/>
          <p:nvPr/>
        </p:nvSpPr>
        <p:spPr>
          <a:xfrm>
            <a:off x="10322123" y="5136832"/>
            <a:ext cx="6580193"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5A5443"/>
                </a:solidFill>
                <a:latin typeface="DM Sans" pitchFamily="34" charset="0"/>
                <a:ea typeface="DM Sans" pitchFamily="34" charset="-122"/>
                <a:cs typeface="DM Sans" pitchFamily="34" charset="-120"/>
              </a:rPr>
              <a:t>Quoted per environment, per seat tier, per data-residency requirement. Procurement-friendly: master service agreement, security review, vendor questionnaire — all handled.</a:t>
            </a:r>
            <a:endParaRPr lang="en-US" sz="1500" dirty="0"/>
          </a:p>
        </p:txBody>
      </p:sp>
      <p:sp>
        <p:nvSpPr>
          <p:cNvPr id="26" name="Shape 23"/>
          <p:cNvSpPr/>
          <p:nvPr/>
        </p:nvSpPr>
        <p:spPr>
          <a:xfrm>
            <a:off x="10322123" y="6222682"/>
            <a:ext cx="6388537" cy="9525"/>
          </a:xfrm>
          <a:prstGeom prst="rect">
            <a:avLst/>
          </a:prstGeom>
          <a:solidFill>
            <a:srgbClr val="3D3929">
              <a:alpha val="15000"/>
            </a:srgbClr>
          </a:solidFill>
          <a:ln/>
        </p:spPr>
      </p:sp>
      <p:sp>
        <p:nvSpPr>
          <p:cNvPr id="27" name="Text 24"/>
          <p:cNvSpPr/>
          <p:nvPr/>
        </p:nvSpPr>
        <p:spPr>
          <a:xfrm>
            <a:off x="10322123" y="6460807"/>
            <a:ext cx="6580193" cy="266700"/>
          </a:xfrm>
          <a:prstGeom prst="rect">
            <a:avLst/>
          </a:prstGeom>
          <a:noFill/>
          <a:ln/>
        </p:spPr>
        <p:txBody>
          <a:bodyPr wrap="square" lIns="25400" tIns="25400" rIns="25400" bIns="25400" rtlCol="0" anchor="t">
            <a:normAutofit/>
          </a:bodyPr>
          <a:lstStyle/>
          <a:p>
            <a:pPr algn="l" indent="0" marL="0">
              <a:buNone/>
            </a:pPr>
            <a:r>
              <a:rPr lang="en-US" sz="1350" spc="113" kern="0" dirty="0">
                <a:solidFill>
                  <a:srgbClr val="B85F3F"/>
                </a:solidFill>
                <a:latin typeface="JetBrains Mono" pitchFamily="34" charset="0"/>
                <a:ea typeface="JetBrains Mono" pitchFamily="34" charset="-122"/>
                <a:cs typeface="JetBrains Mono" pitchFamily="34" charset="-120"/>
              </a:rPr>
              <a:t>▌ KICKOFF</a:t>
            </a:r>
            <a:endParaRPr lang="en-US" sz="1350" dirty="0"/>
          </a:p>
        </p:txBody>
      </p:sp>
      <p:sp>
        <p:nvSpPr>
          <p:cNvPr id="28" name="Text 25"/>
          <p:cNvSpPr/>
          <p:nvPr/>
        </p:nvSpPr>
        <p:spPr>
          <a:xfrm>
            <a:off x="10322123" y="6746557"/>
            <a:ext cx="6580193"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3D3929"/>
                </a:solidFill>
                <a:latin typeface="Poppins" pitchFamily="34" charset="0"/>
                <a:ea typeface="Poppins" pitchFamily="34" charset="-122"/>
                <a:cs typeface="Poppins" pitchFamily="34" charset="-120"/>
              </a:rPr>
              <a:t>6h white-glove POC enterprise@sypnose.cloud</a:t>
            </a:r>
            <a:endParaRPr lang="en-US" sz="1650" dirty="0"/>
          </a:p>
        </p:txBody>
      </p:sp>
      <p:sp>
        <p:nvSpPr>
          <p:cNvPr id="29" name="Text 26"/>
          <p:cNvSpPr/>
          <p:nvPr/>
        </p:nvSpPr>
        <p:spPr>
          <a:xfrm>
            <a:off x="762000" y="9631680"/>
            <a:ext cx="1621631"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SYPNOSE.CLOUD</a:t>
            </a:r>
            <a:endParaRPr lang="en-US" sz="1200" dirty="0"/>
          </a:p>
        </p:txBody>
      </p:sp>
      <p:sp>
        <p:nvSpPr>
          <p:cNvPr id="30" name="Text 27"/>
          <p:cNvSpPr/>
          <p:nvPr/>
        </p:nvSpPr>
        <p:spPr>
          <a:xfrm>
            <a:off x="12414409" y="9631680"/>
            <a:ext cx="5264939" cy="23622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3D3929">
                    <a:alpha val="40000"/>
                  </a:srgbClr>
                </a:solidFill>
                <a:latin typeface="JetBrains Mono" pitchFamily="34" charset="0"/>
                <a:ea typeface="JetBrains Mono" pitchFamily="34" charset="-122"/>
                <a:cs typeface="JetBrains Mono" pitchFamily="34" charset="-120"/>
              </a:rPr>
              <a:t>YOUR CLUSTER · YOUR KEYS · YOUR AUDIT TRAIL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D3929"/>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D3929"/>
          </a:solidFill>
          <a:ln/>
        </p:spPr>
      </p:sp>
      <p:sp>
        <p:nvSpPr>
          <p:cNvPr id="3" name="Shape 1"/>
          <p:cNvSpPr/>
          <p:nvPr/>
        </p:nvSpPr>
        <p:spPr>
          <a:xfrm>
            <a:off x="0" y="0"/>
            <a:ext cx="18288000" cy="10287000"/>
          </a:xfrm>
          <a:prstGeom prst="rect">
            <a:avLst/>
          </a:prstGeom>
          <a:solidFill>
            <a:srgbClr val="EEECE2">
              <a:alpha val="3000"/>
            </a:srgbClr>
          </a:solidFill>
          <a:ln/>
        </p:spPr>
      </p:sp>
      <p:sp>
        <p:nvSpPr>
          <p:cNvPr id="4" name="Text 2"/>
          <p:cNvSpPr/>
          <p:nvPr/>
        </p:nvSpPr>
        <p:spPr>
          <a:xfrm>
            <a:off x="762000" y="457200"/>
            <a:ext cx="2425541"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SYPNOSE · MITHOS</a:t>
            </a:r>
            <a:endParaRPr lang="en-US" sz="1350" dirty="0"/>
          </a:p>
        </p:txBody>
      </p:sp>
      <p:sp>
        <p:nvSpPr>
          <p:cNvPr id="5" name="Text 3"/>
          <p:cNvSpPr/>
          <p:nvPr/>
        </p:nvSpPr>
        <p:spPr>
          <a:xfrm>
            <a:off x="14583847" y="457200"/>
            <a:ext cx="3030418" cy="266700"/>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EEECE2">
                    <a:alpha val="40000"/>
                  </a:srgbClr>
                </a:solidFill>
                <a:latin typeface="JetBrains Mono" pitchFamily="34" charset="0"/>
                <a:ea typeface="JetBrains Mono" pitchFamily="34" charset="-122"/>
                <a:cs typeface="JetBrains Mono" pitchFamily="34" charset="-120"/>
              </a:rPr>
              <a:t>15 / 15 · BOOK THE POC</a:t>
            </a:r>
            <a:endParaRPr lang="en-US" sz="1350" dirty="0"/>
          </a:p>
        </p:txBody>
      </p:sp>
      <p:sp>
        <p:nvSpPr>
          <p:cNvPr id="6" name="Text 4"/>
          <p:cNvSpPr/>
          <p:nvPr/>
        </p:nvSpPr>
        <p:spPr>
          <a:xfrm>
            <a:off x="1143000" y="1905000"/>
            <a:ext cx="16482060" cy="297180"/>
          </a:xfrm>
          <a:prstGeom prst="rect">
            <a:avLst/>
          </a:prstGeom>
          <a:noFill/>
          <a:ln/>
        </p:spPr>
        <p:txBody>
          <a:bodyPr wrap="square" lIns="25400" tIns="25400" rIns="25400" bIns="25400" rtlCol="0" anchor="t">
            <a:normAutofit/>
          </a:bodyPr>
          <a:lstStyle/>
          <a:p>
            <a:pPr algn="l" indent="0" marL="0">
              <a:buNone/>
            </a:pPr>
            <a:r>
              <a:rPr lang="en-US" sz="1500" spc="480" kern="0" dirty="0">
                <a:solidFill>
                  <a:srgbClr val="DA7756"/>
                </a:solidFill>
                <a:latin typeface="JetBrains Mono" pitchFamily="34" charset="0"/>
                <a:ea typeface="JetBrains Mono" pitchFamily="34" charset="-122"/>
                <a:cs typeface="JetBrains Mono" pitchFamily="34" charset="-120"/>
              </a:rPr>
              <a:t>▌ § 15 — THANK YOU. NOW LET'S WORK.</a:t>
            </a:r>
            <a:endParaRPr lang="en-US" sz="1500" dirty="0"/>
          </a:p>
        </p:txBody>
      </p:sp>
      <p:pic>
        <p:nvPicPr>
          <p:cNvPr id="7" name="Image 0" descr="preencoded.png">    </p:cNvPr>
          <p:cNvPicPr>
            <a:picLocks noChangeAspect="1"/>
          </p:cNvPicPr>
          <p:nvPr/>
        </p:nvPicPr>
        <p:blipFill>
          <a:blip r:embed="rId1"/>
          <a:stretch>
            <a:fillRect/>
          </a:stretch>
        </p:blipFill>
        <p:spPr>
          <a:xfrm>
            <a:off x="1143000" y="3105150"/>
            <a:ext cx="1333500" cy="1333500"/>
          </a:xfrm>
          <a:prstGeom prst="rect">
            <a:avLst/>
          </a:prstGeom>
        </p:spPr>
      </p:pic>
      <p:sp>
        <p:nvSpPr>
          <p:cNvPr id="8" name="Text 5"/>
          <p:cNvSpPr/>
          <p:nvPr/>
        </p:nvSpPr>
        <p:spPr>
          <a:xfrm>
            <a:off x="2933700" y="2430780"/>
            <a:ext cx="8808582" cy="2209800"/>
          </a:xfrm>
          <a:prstGeom prst="rect">
            <a:avLst/>
          </a:prstGeom>
          <a:noFill/>
          <a:ln/>
        </p:spPr>
        <p:txBody>
          <a:bodyPr wrap="square" lIns="25400" tIns="25400" rIns="25400" bIns="25400" rtlCol="0" anchor="t">
            <a:normAutofit/>
          </a:bodyPr>
          <a:lstStyle/>
          <a:p>
            <a:pPr algn="l" indent="0" marL="0">
              <a:lnSpc>
                <a:spcPct val="95000"/>
              </a:lnSpc>
              <a:buNone/>
            </a:pPr>
            <a:r>
              <a:rPr lang="en-US" sz="9000" b="1" spc="-360" kern="0" dirty="0">
                <a:solidFill>
                  <a:srgbClr val="EEECE2"/>
                </a:solidFill>
                <a:latin typeface="Poppins" pitchFamily="34" charset="0"/>
                <a:ea typeface="Poppins" pitchFamily="34" charset="-122"/>
                <a:cs typeface="Poppins" pitchFamily="34" charset="-120"/>
              </a:rPr>
              <a:t>One command. </a:t>
            </a:r>
            <a:pPr algn="l" indent="0" marL="0">
              <a:lnSpc>
                <a:spcPct val="95000"/>
              </a:lnSpc>
              <a:buNone/>
            </a:pPr>
            <a:r>
              <a:rPr lang="en-US" sz="9000" b="1" spc="-360" kern="0" dirty="0">
                <a:solidFill>
                  <a:srgbClr val="DA7756"/>
                </a:solidFill>
                <a:latin typeface="Poppins" pitchFamily="34" charset="0"/>
                <a:ea typeface="Poppins" pitchFamily="34" charset="-122"/>
                <a:cs typeface="Poppins" pitchFamily="34" charset="-120"/>
              </a:rPr>
              <a:t>Entire AI org.</a:t>
            </a:r>
            <a:endParaRPr lang="en-US" sz="9000" dirty="0"/>
          </a:p>
        </p:txBody>
      </p:sp>
      <p:sp>
        <p:nvSpPr>
          <p:cNvPr id="9" name="Text 6"/>
          <p:cNvSpPr/>
          <p:nvPr/>
        </p:nvSpPr>
        <p:spPr>
          <a:xfrm>
            <a:off x="2933700" y="4678680"/>
            <a:ext cx="8808582" cy="472440"/>
          </a:xfrm>
          <a:prstGeom prst="rect">
            <a:avLst/>
          </a:prstGeom>
          <a:noFill/>
          <a:ln/>
        </p:spPr>
        <p:txBody>
          <a:bodyPr wrap="square" lIns="25400" tIns="25400" rIns="25400" bIns="25400" rtlCol="0" anchor="t">
            <a:normAutofit/>
          </a:bodyPr>
          <a:lstStyle/>
          <a:p>
            <a:pPr algn="l" indent="0" marL="0">
              <a:buNone/>
            </a:pPr>
            <a:r>
              <a:rPr lang="en-US" sz="2700" i="1" dirty="0">
                <a:solidFill>
                  <a:srgbClr val="EEECE2">
                    <a:alpha val="60000"/>
                  </a:srgbClr>
                </a:solidFill>
                <a:latin typeface="Lora" pitchFamily="34" charset="0"/>
                <a:ea typeface="Lora" pitchFamily="34" charset="-122"/>
                <a:cs typeface="Lora" pitchFamily="34" charset="-120"/>
              </a:rPr>
              <a:t>— Sypnose Mithos · since January 2026 ·</a:t>
            </a:r>
            <a:endParaRPr lang="en-US" sz="2700" dirty="0"/>
          </a:p>
        </p:txBody>
      </p:sp>
      <p:sp>
        <p:nvSpPr>
          <p:cNvPr id="10" name="Shape 7"/>
          <p:cNvSpPr/>
          <p:nvPr/>
        </p:nvSpPr>
        <p:spPr>
          <a:xfrm>
            <a:off x="1143000" y="6256020"/>
            <a:ext cx="8520470" cy="4386263"/>
          </a:xfrm>
          <a:prstGeom prst="roundRect">
            <a:avLst>
              <a:gd name="adj" fmla="val 3909"/>
            </a:avLst>
          </a:prstGeom>
          <a:solidFill>
            <a:srgbClr val="DA7756"/>
          </a:solidFill>
          <a:ln/>
        </p:spPr>
      </p:sp>
      <p:sp>
        <p:nvSpPr>
          <p:cNvPr id="11" name="Text 8"/>
          <p:cNvSpPr/>
          <p:nvPr/>
        </p:nvSpPr>
        <p:spPr>
          <a:xfrm>
            <a:off x="1600200" y="6713220"/>
            <a:ext cx="7834252" cy="266700"/>
          </a:xfrm>
          <a:prstGeom prst="rect">
            <a:avLst/>
          </a:prstGeom>
          <a:noFill/>
          <a:ln/>
        </p:spPr>
        <p:txBody>
          <a:bodyPr wrap="square" lIns="25400" tIns="25400" rIns="25400" bIns="25400" rtlCol="0" anchor="t">
            <a:normAutofit/>
          </a:bodyPr>
          <a:lstStyle/>
          <a:p>
            <a:pPr algn="l" indent="0" marL="0">
              <a:buNone/>
            </a:pPr>
            <a:r>
              <a:rPr lang="en-US" sz="1350" spc="297" kern="0" dirty="0">
                <a:solidFill>
                  <a:srgbClr val="2A261B">
                    <a:alpha val="70000"/>
                  </a:srgbClr>
                </a:solidFill>
                <a:latin typeface="JetBrains Mono" pitchFamily="34" charset="0"/>
                <a:ea typeface="JetBrains Mono" pitchFamily="34" charset="-122"/>
                <a:cs typeface="JetBrains Mono" pitchFamily="34" charset="-120"/>
              </a:rPr>
              <a:t>▌ 6-HOUR POC · FREE</a:t>
            </a:r>
            <a:endParaRPr lang="en-US" sz="1350" dirty="0"/>
          </a:p>
        </p:txBody>
      </p:sp>
      <p:sp>
        <p:nvSpPr>
          <p:cNvPr id="12" name="Text 9"/>
          <p:cNvSpPr/>
          <p:nvPr/>
        </p:nvSpPr>
        <p:spPr>
          <a:xfrm>
            <a:off x="1600200" y="7113270"/>
            <a:ext cx="7834252" cy="11811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112" kern="0" dirty="0">
                <a:solidFill>
                  <a:srgbClr val="3D3929"/>
                </a:solidFill>
                <a:latin typeface="Poppins" pitchFamily="34" charset="0"/>
                <a:ea typeface="Poppins" pitchFamily="34" charset="-122"/>
                <a:cs typeface="Poppins" pitchFamily="34" charset="-120"/>
              </a:rPr>
              <a:t>Ship one real feature in a single day.</a:t>
            </a:r>
            <a:endParaRPr lang="en-US" sz="4500" dirty="0"/>
          </a:p>
        </p:txBody>
      </p:sp>
      <p:sp>
        <p:nvSpPr>
          <p:cNvPr id="13" name="Text 10"/>
          <p:cNvSpPr/>
          <p:nvPr/>
        </p:nvSpPr>
        <p:spPr>
          <a:xfrm>
            <a:off x="1600200" y="8637270"/>
            <a:ext cx="7834252" cy="645795"/>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2A261B">
                    <a:alpha val="85000"/>
                  </a:srgbClr>
                </a:solidFill>
                <a:latin typeface="DM Sans" pitchFamily="34" charset="0"/>
                <a:ea typeface="DM Sans" pitchFamily="34" charset="-122"/>
                <a:cs typeface="DM Sans" pitchFamily="34" charset="-120"/>
              </a:rPr>
              <a:t>Pick the feature you've been postponing. We ship it on Sypnose, tests included, code-review passed. You keep the PR — no obligation after.</a:t>
            </a:r>
            <a:endParaRPr lang="en-US" sz="1650" dirty="0"/>
          </a:p>
        </p:txBody>
      </p:sp>
      <p:sp>
        <p:nvSpPr>
          <p:cNvPr id="14" name="Shape 11"/>
          <p:cNvSpPr/>
          <p:nvPr/>
        </p:nvSpPr>
        <p:spPr>
          <a:xfrm>
            <a:off x="1600200" y="9701213"/>
            <a:ext cx="7606070" cy="9525"/>
          </a:xfrm>
          <a:prstGeom prst="rect">
            <a:avLst/>
          </a:prstGeom>
          <a:solidFill>
            <a:srgbClr val="3D3929">
              <a:alpha val="20000"/>
            </a:srgbClr>
          </a:solidFill>
          <a:ln/>
        </p:spPr>
      </p:sp>
      <p:sp>
        <p:nvSpPr>
          <p:cNvPr id="15" name="Text 12"/>
          <p:cNvSpPr/>
          <p:nvPr/>
        </p:nvSpPr>
        <p:spPr>
          <a:xfrm>
            <a:off x="1600200" y="9880283"/>
            <a:ext cx="7834252"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2A261B"/>
                </a:solidFill>
                <a:latin typeface="JetBrains Mono" pitchFamily="34" charset="0"/>
                <a:ea typeface="JetBrains Mono" pitchFamily="34" charset="-122"/>
                <a:cs typeface="JetBrains Mono" pitchFamily="34" charset="-120"/>
              </a:rPr>
              <a:t>→ hello@sypnose.cloud</a:t>
            </a:r>
            <a:endParaRPr lang="en-US" sz="1800" dirty="0"/>
          </a:p>
        </p:txBody>
      </p:sp>
      <p:sp>
        <p:nvSpPr>
          <p:cNvPr id="16" name="Shape 13"/>
          <p:cNvSpPr/>
          <p:nvPr/>
        </p:nvSpPr>
        <p:spPr>
          <a:xfrm>
            <a:off x="10044469" y="6256020"/>
            <a:ext cx="7100531" cy="4386263"/>
          </a:xfrm>
          <a:prstGeom prst="roundRect">
            <a:avLst>
              <a:gd name="adj" fmla="val 3909"/>
            </a:avLst>
          </a:prstGeom>
          <a:solidFill>
            <a:srgbClr val="EEECE2"/>
          </a:solidFill>
          <a:ln/>
        </p:spPr>
      </p:sp>
      <p:sp>
        <p:nvSpPr>
          <p:cNvPr id="17" name="Text 14"/>
          <p:cNvSpPr/>
          <p:nvPr/>
        </p:nvSpPr>
        <p:spPr>
          <a:xfrm>
            <a:off x="10501669" y="6713220"/>
            <a:ext cx="6371714" cy="266700"/>
          </a:xfrm>
          <a:prstGeom prst="rect">
            <a:avLst/>
          </a:prstGeom>
          <a:noFill/>
          <a:ln/>
        </p:spPr>
        <p:txBody>
          <a:bodyPr wrap="square" lIns="25400" tIns="25400" rIns="25400" bIns="25400" rtlCol="0" anchor="t">
            <a:normAutofit/>
          </a:bodyPr>
          <a:lstStyle/>
          <a:p>
            <a:pPr algn="l" indent="0" marL="0">
              <a:buNone/>
            </a:pPr>
            <a:r>
              <a:rPr lang="en-US" sz="1350" spc="297" kern="0" dirty="0">
                <a:solidFill>
                  <a:srgbClr val="2A261B">
                    <a:alpha val="70000"/>
                  </a:srgbClr>
                </a:solidFill>
                <a:latin typeface="JetBrains Mono" pitchFamily="34" charset="0"/>
                <a:ea typeface="JetBrains Mono" pitchFamily="34" charset="-122"/>
                <a:cs typeface="JetBrains Mono" pitchFamily="34" charset="-120"/>
              </a:rPr>
              <a:t>▌ TALK TO CARLOS</a:t>
            </a:r>
            <a:endParaRPr lang="en-US" sz="1350" dirty="0"/>
          </a:p>
        </p:txBody>
      </p:sp>
      <p:sp>
        <p:nvSpPr>
          <p:cNvPr id="18" name="Text 15"/>
          <p:cNvSpPr/>
          <p:nvPr/>
        </p:nvSpPr>
        <p:spPr>
          <a:xfrm>
            <a:off x="10501669" y="7113270"/>
            <a:ext cx="6371714" cy="9525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90" kern="0" dirty="0">
                <a:solidFill>
                  <a:srgbClr val="3D3929"/>
                </a:solidFill>
                <a:latin typeface="Poppins" pitchFamily="34" charset="0"/>
                <a:ea typeface="Poppins" pitchFamily="34" charset="-122"/>
                <a:cs typeface="Poppins" pitchFamily="34" charset="-120"/>
              </a:rPr>
              <a:t>Architect direct. No funnel.</a:t>
            </a:r>
            <a:endParaRPr lang="en-US" sz="3600" dirty="0"/>
          </a:p>
        </p:txBody>
      </p:sp>
      <p:sp>
        <p:nvSpPr>
          <p:cNvPr id="19" name="Text 16"/>
          <p:cNvSpPr/>
          <p:nvPr/>
        </p:nvSpPr>
        <p:spPr>
          <a:xfrm>
            <a:off x="10501669" y="8408670"/>
            <a:ext cx="6371714" cy="94964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2A261B">
                    <a:alpha val="85000"/>
                  </a:srgbClr>
                </a:solidFill>
                <a:latin typeface="DM Sans" pitchFamily="34" charset="0"/>
                <a:ea typeface="DM Sans" pitchFamily="34" charset="-122"/>
                <a:cs typeface="DM Sans" pitchFamily="34" charset="-120"/>
              </a:rPr>
              <a:t>Carlos De La Torre — Architect of SYPNOSE — replies inside 24h to every legitimate request. No SDR. No discovery call. Just an engineer.</a:t>
            </a:r>
            <a:endParaRPr lang="en-US" sz="1650" dirty="0"/>
          </a:p>
        </p:txBody>
      </p:sp>
      <p:sp>
        <p:nvSpPr>
          <p:cNvPr id="20" name="Shape 17"/>
          <p:cNvSpPr/>
          <p:nvPr/>
        </p:nvSpPr>
        <p:spPr>
          <a:xfrm>
            <a:off x="10501669" y="9701213"/>
            <a:ext cx="6186131" cy="9525"/>
          </a:xfrm>
          <a:prstGeom prst="rect">
            <a:avLst/>
          </a:prstGeom>
          <a:solidFill>
            <a:srgbClr val="3D3929">
              <a:alpha val="20000"/>
            </a:srgbClr>
          </a:solidFill>
          <a:ln/>
        </p:spPr>
      </p:sp>
      <p:sp>
        <p:nvSpPr>
          <p:cNvPr id="21" name="Text 18"/>
          <p:cNvSpPr/>
          <p:nvPr/>
        </p:nvSpPr>
        <p:spPr>
          <a:xfrm>
            <a:off x="10501669" y="9880283"/>
            <a:ext cx="6371714"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2A261B"/>
                </a:solidFill>
                <a:latin typeface="JetBrains Mono" pitchFamily="34" charset="0"/>
                <a:ea typeface="JetBrains Mono" pitchFamily="34" charset="-122"/>
                <a:cs typeface="JetBrains Mono" pitchFamily="34" charset="-120"/>
              </a:rPr>
              <a:t>+ 1 809 424 0731 · WhatsApp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2026-05-12T23:22:11Z</dcterms:created>
  <dcterms:modified xsi:type="dcterms:W3CDTF">2026-05-12T23:22:11Z</dcterms:modified>
</cp:coreProperties>
</file>